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5"/>
  </p:handoutMasterIdLst>
  <p:sldIdLst>
    <p:sldId id="256" r:id="rId2"/>
    <p:sldId id="272" r:id="rId3"/>
    <p:sldId id="267" r:id="rId4"/>
    <p:sldId id="268" r:id="rId5"/>
    <p:sldId id="269" r:id="rId6"/>
    <p:sldId id="270" r:id="rId7"/>
    <p:sldId id="271" r:id="rId8"/>
    <p:sldId id="273" r:id="rId9"/>
    <p:sldId id="274" r:id="rId10"/>
    <p:sldId id="275" r:id="rId11"/>
    <p:sldId id="276" r:id="rId12"/>
    <p:sldId id="277" r:id="rId13"/>
    <p:sldId id="278" r:id="rId1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498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FD228C-D85D-447F-B526-5049705DC7C5}" type="datetimeFigureOut">
              <a:rPr lang="ko-KR" altLang="en-US" smtClean="0"/>
              <a:pPr/>
              <a:t>2026-10-02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23B1AD-8940-49B7-8243-AEDD8F25F80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94537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4EDB4-30F8-4498-8596-58C24D9E0397}" type="datetimeFigureOut">
              <a:rPr lang="ko-KR" altLang="en-US" smtClean="0"/>
              <a:pPr/>
              <a:t>2026-10-02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34848-D1FD-4521-B8CC-F7C520F4EC6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20080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/>
            </a:lvl3pPr>
            <a:lvl4pPr>
              <a:lnSpc>
                <a:spcPct val="12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4EDB4-30F8-4498-8596-58C24D9E0397}" type="datetimeFigureOut">
              <a:rPr lang="ko-KR" altLang="en-US" smtClean="0"/>
              <a:pPr/>
              <a:t>2026-10-02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34848-D1FD-4521-B8CC-F7C520F4EC6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4EDB4-30F8-4498-8596-58C24D9E0397}" type="datetimeFigureOut">
              <a:rPr lang="ko-KR" altLang="en-US" smtClean="0"/>
              <a:pPr/>
              <a:t>2026-10-02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34848-D1FD-4521-B8CC-F7C520F4EC6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4EDB4-30F8-4498-8596-58C24D9E0397}" type="datetimeFigureOut">
              <a:rPr lang="ko-KR" altLang="en-US" smtClean="0"/>
              <a:pPr/>
              <a:t>2026-10-02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34848-D1FD-4521-B8CC-F7C520F4EC6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4EDB4-30F8-4498-8596-58C24D9E0397}" type="datetimeFigureOut">
              <a:rPr lang="ko-KR" altLang="en-US" smtClean="0"/>
              <a:pPr/>
              <a:t>2026-10-02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34848-D1FD-4521-B8CC-F7C520F4EC6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4EDB4-30F8-4498-8596-58C24D9E0397}" type="datetimeFigureOut">
              <a:rPr lang="ko-KR" altLang="en-US" smtClean="0"/>
              <a:pPr/>
              <a:t>2026-10-02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34848-D1FD-4521-B8CC-F7C520F4EC6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4EDB4-30F8-4498-8596-58C24D9E0397}" type="datetimeFigureOut">
              <a:rPr lang="ko-KR" altLang="en-US" smtClean="0"/>
              <a:pPr/>
              <a:t>2026-10-02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34848-D1FD-4521-B8CC-F7C520F4EC6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4EDB4-30F8-4498-8596-58C24D9E0397}" type="datetimeFigureOut">
              <a:rPr lang="ko-KR" altLang="en-US" smtClean="0"/>
              <a:pPr/>
              <a:t>2026-10-02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34848-D1FD-4521-B8CC-F7C520F4EC6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4EDB4-30F8-4498-8596-58C24D9E0397}" type="datetimeFigureOut">
              <a:rPr lang="ko-KR" altLang="en-US" smtClean="0"/>
              <a:pPr/>
              <a:t>2026-10-02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34848-D1FD-4521-B8CC-F7C520F4EC6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4EDB4-30F8-4498-8596-58C24D9E0397}" type="datetimeFigureOut">
              <a:rPr lang="ko-KR" altLang="en-US" smtClean="0"/>
              <a:pPr/>
              <a:t>2026-10-02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34848-D1FD-4521-B8CC-F7C520F4EC6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4EDB4-30F8-4498-8596-58C24D9E0397}" type="datetimeFigureOut">
              <a:rPr lang="ko-KR" altLang="en-US" smtClean="0"/>
              <a:pPr/>
              <a:t>2026-10-02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34848-D1FD-4521-B8CC-F7C520F4EC6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4EDB4-30F8-4498-8596-58C24D9E0397}" type="datetimeFigureOut">
              <a:rPr lang="ko-KR" altLang="en-US" smtClean="0"/>
              <a:pPr/>
              <a:t>2026-10-02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834848-D1FD-4521-B8CC-F7C520F4EC6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41784" y="1916832"/>
            <a:ext cx="8062664" cy="1470025"/>
          </a:xfrm>
        </p:spPr>
        <p:txBody>
          <a:bodyPr>
            <a:noAutofit/>
          </a:bodyPr>
          <a:lstStyle/>
          <a:p>
            <a:r>
              <a:rPr lang="en-US" altLang="ko-KR" dirty="0" smtClean="0"/>
              <a:t>K-</a:t>
            </a:r>
            <a:r>
              <a:rPr lang="ko-KR" altLang="en-US" dirty="0" smtClean="0"/>
              <a:t>뉴딜 아카데미 데이터 설명</a:t>
            </a:r>
            <a:endParaRPr lang="ko-KR" altLang="en-US" dirty="0"/>
          </a:p>
        </p:txBody>
      </p:sp>
      <p:sp>
        <p:nvSpPr>
          <p:cNvPr id="4" name="부제목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41784" y="1916832"/>
            <a:ext cx="8062664" cy="1470025"/>
          </a:xfrm>
        </p:spPr>
        <p:txBody>
          <a:bodyPr>
            <a:noAutofit/>
          </a:bodyPr>
          <a:lstStyle/>
          <a:p>
            <a:r>
              <a:rPr lang="ko-KR" altLang="en-US" dirty="0" smtClean="0"/>
              <a:t>미니 프로젝트 데이터</a:t>
            </a:r>
            <a:endParaRPr lang="ko-KR" altLang="en-US" dirty="0"/>
          </a:p>
        </p:txBody>
      </p:sp>
      <p:sp>
        <p:nvSpPr>
          <p:cNvPr id="4" name="부제목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040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smtClean="0"/>
              <a:t>데이터 성격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908720"/>
            <a:ext cx="8579296" cy="568863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/>
              <a:t>전자제품 조립공정에서 발생할 수 있는 품질</a:t>
            </a:r>
            <a:r>
              <a:rPr lang="en-US" altLang="ko-KR" sz="2000" dirty="0"/>
              <a:t>·</a:t>
            </a:r>
            <a:r>
              <a:rPr lang="ko-KR" altLang="en-US" sz="2000" dirty="0"/>
              <a:t>생산</a:t>
            </a:r>
            <a:r>
              <a:rPr lang="en-US" altLang="ko-KR" sz="2000" dirty="0"/>
              <a:t>·</a:t>
            </a:r>
            <a:r>
              <a:rPr lang="ko-KR" altLang="en-US" sz="2000" dirty="0"/>
              <a:t>설비 문제를 교육용으로 재구성한 </a:t>
            </a:r>
            <a:r>
              <a:rPr lang="ko-KR" altLang="en-US" sz="2000" dirty="0" err="1" smtClean="0"/>
              <a:t>합성데이터</a:t>
            </a:r>
            <a:endParaRPr lang="en-US" altLang="ko-KR" sz="2000" dirty="0" smtClean="0"/>
          </a:p>
          <a:p>
            <a:pPr>
              <a:lnSpc>
                <a:spcPct val="150000"/>
              </a:lnSpc>
            </a:pPr>
            <a:endParaRPr lang="en-US" altLang="ko-KR" sz="2000" dirty="0"/>
          </a:p>
          <a:p>
            <a:pPr>
              <a:lnSpc>
                <a:spcPct val="150000"/>
              </a:lnSpc>
            </a:pPr>
            <a:endParaRPr lang="en-US" altLang="ko-KR" sz="2000" dirty="0" smtClean="0"/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457200" y="2060848"/>
          <a:ext cx="8229600" cy="356616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4008880414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8107881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>
                          <a:ln>
                            <a:noFill/>
                          </a:ln>
                        </a:rPr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>
                          <a:ln>
                            <a:noFill/>
                          </a:ln>
                        </a:rPr>
                        <a:t>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009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>
                          <a:ln>
                            <a:noFill/>
                          </a:ln>
                        </a:rPr>
                        <a:t>활용 </a:t>
                      </a:r>
                      <a:r>
                        <a:rPr lang="ko-KR" altLang="en-US" dirty="0" err="1">
                          <a:ln>
                            <a:noFill/>
                          </a:ln>
                        </a:rPr>
                        <a:t>회차</a:t>
                      </a:r>
                      <a:endParaRPr lang="ko-KR" altLang="en-US" dirty="0">
                        <a:ln>
                          <a:noFill/>
                        </a:ln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ln>
                            <a:noFill/>
                          </a:ln>
                        </a:rPr>
                        <a:t>1~2</a:t>
                      </a:r>
                      <a:r>
                        <a:rPr lang="ko-KR" altLang="en-US">
                          <a:ln>
                            <a:noFill/>
                          </a:ln>
                        </a:rPr>
                        <a:t>회차 공통 미니프로젝트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242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>
                          <a:ln>
                            <a:noFill/>
                          </a:ln>
                        </a:rPr>
                        <a:t>활용 대상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ln>
                            <a:noFill/>
                          </a:ln>
                        </a:rPr>
                        <a:t>4</a:t>
                      </a:r>
                      <a:r>
                        <a:rPr lang="ko-KR" altLang="en-US">
                          <a:ln>
                            <a:noFill/>
                          </a:ln>
                        </a:rPr>
                        <a:t>개 팀 전체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7443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>
                          <a:ln>
                            <a:noFill/>
                          </a:ln>
                        </a:rPr>
                        <a:t>활용 방식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n>
                            <a:noFill/>
                          </a:ln>
                        </a:rPr>
                        <a:t>모든 팀이 동일한 데이터와 사례 사용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7723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>
                          <a:ln>
                            <a:noFill/>
                          </a:ln>
                        </a:rPr>
                        <a:t>대상 공정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>
                          <a:ln>
                            <a:noFill/>
                          </a:ln>
                        </a:rPr>
                        <a:t>소형 전자제품 조립 및 </a:t>
                      </a:r>
                      <a:r>
                        <a:rPr lang="ko-KR" altLang="en-US" dirty="0" err="1">
                          <a:ln>
                            <a:noFill/>
                          </a:ln>
                        </a:rPr>
                        <a:t>최종검사</a:t>
                      </a:r>
                      <a:r>
                        <a:rPr lang="ko-KR" altLang="en-US" dirty="0">
                          <a:ln>
                            <a:noFill/>
                          </a:ln>
                        </a:rPr>
                        <a:t> 공정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4323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>
                          <a:ln>
                            <a:noFill/>
                          </a:ln>
                        </a:rPr>
                        <a:t>데이터 단위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>
                          <a:ln>
                            <a:noFill/>
                          </a:ln>
                        </a:rPr>
                        <a:t>제품 </a:t>
                      </a:r>
                      <a:r>
                        <a:rPr lang="en-US" altLang="ko-KR" dirty="0">
                          <a:ln>
                            <a:noFill/>
                          </a:ln>
                        </a:rPr>
                        <a:t>1</a:t>
                      </a:r>
                      <a:r>
                        <a:rPr lang="ko-KR" altLang="en-US" dirty="0">
                          <a:ln>
                            <a:noFill/>
                          </a:ln>
                        </a:rPr>
                        <a:t>대의 생산</a:t>
                      </a:r>
                      <a:r>
                        <a:rPr lang="en-US" altLang="ko-KR" dirty="0">
                          <a:ln>
                            <a:noFill/>
                          </a:ln>
                        </a:rPr>
                        <a:t>·</a:t>
                      </a:r>
                      <a:r>
                        <a:rPr lang="ko-KR" altLang="en-US" dirty="0">
                          <a:ln>
                            <a:noFill/>
                          </a:ln>
                        </a:rPr>
                        <a:t>조립</a:t>
                      </a:r>
                      <a:r>
                        <a:rPr lang="en-US" altLang="ko-KR" dirty="0">
                          <a:ln>
                            <a:noFill/>
                          </a:ln>
                        </a:rPr>
                        <a:t>·</a:t>
                      </a:r>
                      <a:r>
                        <a:rPr lang="ko-KR" altLang="en-US" dirty="0">
                          <a:ln>
                            <a:noFill/>
                          </a:ln>
                        </a:rPr>
                        <a:t>검사 기록이 </a:t>
                      </a:r>
                      <a:r>
                        <a:rPr lang="en-US" altLang="ko-KR" dirty="0">
                          <a:ln>
                            <a:noFill/>
                          </a:ln>
                        </a:rPr>
                        <a:t>1</a:t>
                      </a:r>
                      <a:r>
                        <a:rPr lang="ko-KR" altLang="en-US" dirty="0">
                          <a:ln>
                            <a:noFill/>
                          </a:ln>
                        </a:rPr>
                        <a:t>행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83115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>
                          <a:ln>
                            <a:noFill/>
                          </a:ln>
                        </a:rPr>
                        <a:t>데이터 기간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ln>
                            <a:noFill/>
                          </a:ln>
                        </a:rPr>
                        <a:t>2026</a:t>
                      </a:r>
                      <a:r>
                        <a:rPr lang="ko-KR" altLang="en-US" dirty="0">
                          <a:ln>
                            <a:noFill/>
                          </a:ln>
                        </a:rPr>
                        <a:t>년 </a:t>
                      </a:r>
                      <a:r>
                        <a:rPr lang="en-US" altLang="ko-KR" dirty="0">
                          <a:ln>
                            <a:noFill/>
                          </a:ln>
                        </a:rPr>
                        <a:t>7</a:t>
                      </a:r>
                      <a:r>
                        <a:rPr lang="ko-KR" altLang="en-US" dirty="0">
                          <a:ln>
                            <a:noFill/>
                          </a:ln>
                        </a:rPr>
                        <a:t>월 </a:t>
                      </a:r>
                      <a:r>
                        <a:rPr lang="en-US" altLang="ko-KR" dirty="0">
                          <a:ln>
                            <a:noFill/>
                          </a:ln>
                        </a:rPr>
                        <a:t>1</a:t>
                      </a:r>
                      <a:r>
                        <a:rPr lang="ko-KR" altLang="en-US" dirty="0">
                          <a:ln>
                            <a:noFill/>
                          </a:ln>
                        </a:rPr>
                        <a:t>일</a:t>
                      </a:r>
                      <a:r>
                        <a:rPr lang="en-US" altLang="ko-KR" dirty="0">
                          <a:ln>
                            <a:noFill/>
                          </a:ln>
                        </a:rPr>
                        <a:t>~7</a:t>
                      </a:r>
                      <a:r>
                        <a:rPr lang="ko-KR" altLang="en-US" dirty="0">
                          <a:ln>
                            <a:noFill/>
                          </a:ln>
                        </a:rPr>
                        <a:t>월 </a:t>
                      </a:r>
                      <a:r>
                        <a:rPr lang="en-US" altLang="ko-KR" dirty="0">
                          <a:ln>
                            <a:noFill/>
                          </a:ln>
                        </a:rPr>
                        <a:t>31</a:t>
                      </a:r>
                      <a:r>
                        <a:rPr lang="ko-KR" altLang="en-US" dirty="0">
                          <a:ln>
                            <a:noFill/>
                          </a:ln>
                        </a:rPr>
                        <a:t>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9220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>
                          <a:ln>
                            <a:noFill/>
                          </a:ln>
                        </a:rPr>
                        <a:t>데이터 규모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ln>
                            <a:noFill/>
                          </a:ln>
                        </a:rPr>
                        <a:t>1,200</a:t>
                      </a:r>
                      <a:r>
                        <a:rPr lang="ko-KR" altLang="en-US" dirty="0">
                          <a:ln>
                            <a:noFill/>
                          </a:ln>
                        </a:rPr>
                        <a:t>행 </a:t>
                      </a:r>
                      <a:r>
                        <a:rPr lang="en-US" altLang="ko-KR" dirty="0">
                          <a:ln>
                            <a:noFill/>
                          </a:ln>
                        </a:rPr>
                        <a:t>× 20</a:t>
                      </a:r>
                      <a:r>
                        <a:rPr lang="ko-KR" altLang="en-US" dirty="0">
                          <a:ln>
                            <a:noFill/>
                          </a:ln>
                        </a:rPr>
                        <a:t>개 변수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326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>
                          <a:ln>
                            <a:noFill/>
                          </a:ln>
                        </a:rPr>
                        <a:t>데이터 성격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>
                          <a:ln>
                            <a:noFill/>
                          </a:ln>
                        </a:rPr>
                        <a:t>실제 </a:t>
                      </a:r>
                      <a:r>
                        <a:rPr lang="ko-KR" altLang="en-US" dirty="0" err="1">
                          <a:ln>
                            <a:noFill/>
                          </a:ln>
                        </a:rPr>
                        <a:t>제조상황을</a:t>
                      </a:r>
                      <a:r>
                        <a:rPr lang="ko-KR" altLang="en-US" dirty="0">
                          <a:ln>
                            <a:noFill/>
                          </a:ln>
                        </a:rPr>
                        <a:t> 모사한 교육용 </a:t>
                      </a:r>
                      <a:r>
                        <a:rPr lang="ko-KR" altLang="en-US" dirty="0" err="1">
                          <a:ln>
                            <a:noFill/>
                          </a:ln>
                        </a:rPr>
                        <a:t>합성데이터</a:t>
                      </a:r>
                      <a:endParaRPr lang="ko-KR" altLang="en-US" dirty="0">
                        <a:ln>
                          <a:noFill/>
                        </a:ln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8659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055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smtClean="0"/>
              <a:t>데이터 시나리오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908720"/>
            <a:ext cx="8579296" cy="568863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/>
              <a:t>가상의 소형 전자제품 조립라인에서 최근 불량과 </a:t>
            </a:r>
            <a:r>
              <a:rPr lang="ko-KR" altLang="en-US" sz="2000" dirty="0" err="1"/>
              <a:t>재작업이</a:t>
            </a:r>
            <a:r>
              <a:rPr lang="ko-KR" altLang="en-US" sz="2000" dirty="0"/>
              <a:t> 증가하고 있으며</a:t>
            </a:r>
            <a:r>
              <a:rPr lang="en-US" altLang="ko-KR" sz="2000" dirty="0"/>
              <a:t>, </a:t>
            </a:r>
            <a:r>
              <a:rPr lang="ko-KR" altLang="en-US" sz="2000" dirty="0"/>
              <a:t>특히 </a:t>
            </a:r>
            <a:r>
              <a:rPr lang="ko-KR" altLang="en-US" sz="2000" dirty="0" err="1"/>
              <a:t>근무조</a:t>
            </a:r>
            <a:r>
              <a:rPr lang="en-US" altLang="ko-KR" sz="2000" dirty="0"/>
              <a:t>·</a:t>
            </a:r>
            <a:r>
              <a:rPr lang="ko-KR" altLang="en-US" sz="2000" dirty="0"/>
              <a:t>설비</a:t>
            </a:r>
            <a:r>
              <a:rPr lang="en-US" altLang="ko-KR" sz="2000" dirty="0"/>
              <a:t>·</a:t>
            </a:r>
            <a:r>
              <a:rPr lang="ko-KR" altLang="en-US" sz="2000" dirty="0" err="1"/>
              <a:t>제품모델</a:t>
            </a:r>
            <a:r>
              <a:rPr lang="en-US" altLang="ko-KR" sz="2000" dirty="0"/>
              <a:t>·</a:t>
            </a:r>
            <a:r>
              <a:rPr lang="ko-KR" altLang="en-US" sz="2000" dirty="0" err="1"/>
              <a:t>체결조건에</a:t>
            </a:r>
            <a:r>
              <a:rPr lang="ko-KR" altLang="en-US" sz="2000" dirty="0"/>
              <a:t> 따라 품질 차이가 발생하는 것으로 의심되는 상황으로 현장관리자는 다음 사항을 확인하고자 </a:t>
            </a:r>
            <a:r>
              <a:rPr lang="ko-KR" altLang="en-US" sz="2000" dirty="0" smtClean="0"/>
              <a:t>함</a:t>
            </a:r>
            <a:endParaRPr lang="en-US" altLang="ko-KR" sz="2000" dirty="0" smtClean="0"/>
          </a:p>
          <a:p>
            <a:pPr lvl="1">
              <a:lnSpc>
                <a:spcPct val="150000"/>
              </a:lnSpc>
            </a:pPr>
            <a:r>
              <a:rPr lang="ko-KR" altLang="en-US" sz="1600" dirty="0" smtClean="0"/>
              <a:t>어떤 조건에서 </a:t>
            </a:r>
            <a:r>
              <a:rPr lang="ko-KR" altLang="en-US" sz="1600" dirty="0"/>
              <a:t>불량이 많이 발생하는가</a:t>
            </a:r>
            <a:r>
              <a:rPr lang="en-US" altLang="ko-KR" sz="1600" dirty="0" smtClean="0"/>
              <a:t>?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 err="1" smtClean="0"/>
              <a:t>주간조와</a:t>
            </a:r>
            <a:r>
              <a:rPr lang="ko-KR" altLang="en-US" sz="1600" dirty="0" smtClean="0"/>
              <a:t> </a:t>
            </a:r>
            <a:r>
              <a:rPr lang="ko-KR" altLang="en-US" sz="1600" dirty="0" err="1"/>
              <a:t>야간조의</a:t>
            </a:r>
            <a:r>
              <a:rPr lang="ko-KR" altLang="en-US" sz="1600" dirty="0"/>
              <a:t> 불량률은 어떻게 다른가</a:t>
            </a:r>
            <a:r>
              <a:rPr lang="en-US" altLang="ko-KR" sz="1600" dirty="0" smtClean="0"/>
              <a:t>?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 err="1" smtClean="0"/>
              <a:t>체결토크가</a:t>
            </a:r>
            <a:r>
              <a:rPr lang="ko-KR" altLang="en-US" sz="1600" dirty="0" smtClean="0"/>
              <a:t> </a:t>
            </a:r>
            <a:r>
              <a:rPr lang="ko-KR" altLang="en-US" sz="1600" dirty="0" err="1"/>
              <a:t>기준범위를</a:t>
            </a:r>
            <a:r>
              <a:rPr lang="ko-KR" altLang="en-US" sz="1600" dirty="0"/>
              <a:t> 벗어나면 불량률이 높아지는가</a:t>
            </a:r>
            <a:r>
              <a:rPr lang="en-US" altLang="ko-KR" sz="1600" dirty="0" smtClean="0"/>
              <a:t>?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 smtClean="0"/>
              <a:t>특정 </a:t>
            </a:r>
            <a:r>
              <a:rPr lang="ko-KR" altLang="en-US" sz="1600" dirty="0" err="1"/>
              <a:t>제품모델</a:t>
            </a:r>
            <a:r>
              <a:rPr lang="en-US" altLang="ko-KR" sz="1600" dirty="0"/>
              <a:t>·</a:t>
            </a:r>
            <a:r>
              <a:rPr lang="ko-KR" altLang="en-US" sz="1600" dirty="0"/>
              <a:t>설비</a:t>
            </a:r>
            <a:r>
              <a:rPr lang="en-US" altLang="ko-KR" sz="1600" dirty="0"/>
              <a:t>·</a:t>
            </a:r>
            <a:r>
              <a:rPr lang="ko-KR" altLang="en-US" sz="1600" dirty="0" err="1"/>
              <a:t>작업그룹에</a:t>
            </a:r>
            <a:r>
              <a:rPr lang="ko-KR" altLang="en-US" sz="1600" dirty="0"/>
              <a:t> 문제가 집중되는가</a:t>
            </a:r>
            <a:r>
              <a:rPr lang="en-US" altLang="ko-KR" sz="1600" dirty="0" smtClean="0"/>
              <a:t>?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 err="1" smtClean="0"/>
              <a:t>최종검사</a:t>
            </a:r>
            <a:r>
              <a:rPr lang="ko-KR" altLang="en-US" sz="1600" dirty="0" smtClean="0"/>
              <a:t> </a:t>
            </a:r>
            <a:r>
              <a:rPr lang="ko-KR" altLang="en-US" sz="1600" dirty="0"/>
              <a:t>전에 </a:t>
            </a:r>
            <a:r>
              <a:rPr lang="ko-KR" altLang="en-US" sz="1600" dirty="0" err="1"/>
              <a:t>추가확인이</a:t>
            </a:r>
            <a:r>
              <a:rPr lang="ko-KR" altLang="en-US" sz="1600" dirty="0"/>
              <a:t> 필요한 제품을 선별할 수 있는가</a:t>
            </a:r>
            <a:r>
              <a:rPr lang="en-US" altLang="ko-KR" sz="1600" dirty="0" smtClean="0"/>
              <a:t>?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 smtClean="0"/>
              <a:t>불량 </a:t>
            </a:r>
            <a:r>
              <a:rPr lang="ko-KR" altLang="en-US" sz="1600" dirty="0"/>
              <a:t>누락과 불필요한 </a:t>
            </a:r>
            <a:r>
              <a:rPr lang="ko-KR" altLang="en-US" sz="1600" dirty="0" err="1"/>
              <a:t>추가검사</a:t>
            </a:r>
            <a:r>
              <a:rPr lang="ko-KR" altLang="en-US" sz="1600" dirty="0"/>
              <a:t> 사이에서 적절한 기준은 무엇인가</a:t>
            </a:r>
            <a:r>
              <a:rPr lang="en-US" altLang="ko-KR" sz="1600" dirty="0" smtClean="0"/>
              <a:t>? </a:t>
            </a:r>
            <a:r>
              <a:rPr lang="ko-KR" altLang="en-US" sz="1600" dirty="0" smtClean="0"/>
              <a:t>등</a:t>
            </a:r>
            <a:endParaRPr lang="en-US" altLang="ko-KR" sz="1600" dirty="0" smtClean="0"/>
          </a:p>
        </p:txBody>
      </p:sp>
    </p:spTree>
    <p:extLst>
      <p:ext uri="{BB962C8B-B14F-4D97-AF65-F5344CB8AC3E}">
        <p14:creationId xmlns:p14="http://schemas.microsoft.com/office/powerpoint/2010/main" val="2515725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smtClean="0"/>
              <a:t>핵심 문제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908720"/>
            <a:ext cx="8579296" cy="568863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 err="1" smtClean="0"/>
              <a:t>조립공정의</a:t>
            </a:r>
            <a:r>
              <a:rPr lang="ko-KR" altLang="en-US" sz="2000" dirty="0" smtClean="0"/>
              <a:t> </a:t>
            </a:r>
            <a:r>
              <a:rPr lang="ko-KR" altLang="en-US" sz="2000" dirty="0"/>
              <a:t>불량 발생 패턴을 파악하고</a:t>
            </a:r>
            <a:r>
              <a:rPr lang="en-US" altLang="ko-KR" sz="2000" dirty="0"/>
              <a:t>, </a:t>
            </a:r>
            <a:r>
              <a:rPr lang="ko-KR" altLang="en-US" sz="2000" dirty="0"/>
              <a:t>생산</a:t>
            </a:r>
            <a:r>
              <a:rPr lang="en-US" altLang="ko-KR" sz="2000" dirty="0"/>
              <a:t>·</a:t>
            </a:r>
            <a:r>
              <a:rPr lang="ko-KR" altLang="en-US" sz="2000" dirty="0"/>
              <a:t>공정데이터를 이용하여 </a:t>
            </a:r>
            <a:r>
              <a:rPr lang="ko-KR" altLang="en-US" sz="2000" dirty="0" err="1"/>
              <a:t>최종검사</a:t>
            </a:r>
            <a:r>
              <a:rPr lang="ko-KR" altLang="en-US" sz="2000" dirty="0"/>
              <a:t> 전에 </a:t>
            </a:r>
            <a:r>
              <a:rPr lang="ko-KR" altLang="en-US" sz="2000" dirty="0" err="1"/>
              <a:t>추가확인이</a:t>
            </a:r>
            <a:r>
              <a:rPr lang="ko-KR" altLang="en-US" sz="2000" dirty="0"/>
              <a:t> 필요한 제품을 선별하는 방법을 </a:t>
            </a:r>
            <a:r>
              <a:rPr lang="ko-KR" altLang="en-US" sz="2000" dirty="0" smtClean="0"/>
              <a:t>제안하는 것으로 수강생 팀은 다음의 내용을 수행할 계획</a:t>
            </a:r>
            <a:endParaRPr lang="en-US" altLang="ko-KR" sz="2000" dirty="0" smtClean="0"/>
          </a:p>
          <a:p>
            <a:pPr lvl="1">
              <a:lnSpc>
                <a:spcPct val="150000"/>
              </a:lnSpc>
            </a:pPr>
            <a:r>
              <a:rPr lang="ko-KR" altLang="en-US" sz="1600" dirty="0" err="1" smtClean="0"/>
              <a:t>제조현장</a:t>
            </a:r>
            <a:r>
              <a:rPr lang="ko-KR" altLang="en-US" sz="1600" dirty="0" smtClean="0"/>
              <a:t> </a:t>
            </a:r>
            <a:r>
              <a:rPr lang="ko-KR" altLang="en-US" sz="1600" dirty="0"/>
              <a:t>상황 이해 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 smtClean="0"/>
              <a:t>문제와 </a:t>
            </a:r>
            <a:r>
              <a:rPr lang="ko-KR" altLang="en-US" sz="1600" dirty="0" err="1"/>
              <a:t>분석질문</a:t>
            </a:r>
            <a:r>
              <a:rPr lang="ko-KR" altLang="en-US" sz="1600" dirty="0"/>
              <a:t> 정의 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 smtClean="0"/>
              <a:t>KPI </a:t>
            </a:r>
            <a:r>
              <a:rPr lang="ko-KR" altLang="en-US" sz="1600" dirty="0"/>
              <a:t>설정 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 smtClean="0"/>
              <a:t>데이터 </a:t>
            </a:r>
            <a:r>
              <a:rPr lang="ko-KR" altLang="en-US" sz="1600" dirty="0"/>
              <a:t>구조 및 품질 확인 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 smtClean="0"/>
              <a:t>불량 </a:t>
            </a:r>
            <a:r>
              <a:rPr lang="ko-KR" altLang="en-US" sz="1600" dirty="0"/>
              <a:t>발생 패턴 분석 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 smtClean="0"/>
              <a:t>간단한 </a:t>
            </a:r>
            <a:r>
              <a:rPr lang="ko-KR" altLang="en-US" sz="1600" dirty="0" err="1"/>
              <a:t>판정규칙</a:t>
            </a:r>
            <a:r>
              <a:rPr lang="ko-KR" altLang="en-US" sz="1600" dirty="0"/>
              <a:t> 또는 모델 적용 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 err="1" smtClean="0"/>
              <a:t>오탐과</a:t>
            </a:r>
            <a:r>
              <a:rPr lang="ko-KR" altLang="en-US" sz="1600" dirty="0" smtClean="0"/>
              <a:t> </a:t>
            </a:r>
            <a:r>
              <a:rPr lang="ko-KR" altLang="en-US" sz="1600" dirty="0" err="1"/>
              <a:t>미탐</a:t>
            </a:r>
            <a:r>
              <a:rPr lang="ko-KR" altLang="en-US" sz="1600" dirty="0"/>
              <a:t> 분석 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 smtClean="0"/>
              <a:t>모델 </a:t>
            </a:r>
            <a:r>
              <a:rPr lang="ko-KR" altLang="en-US" sz="1600" dirty="0"/>
              <a:t>및 판정기준 개선 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 smtClean="0"/>
              <a:t>대시보드와 </a:t>
            </a:r>
            <a:r>
              <a:rPr lang="ko-KR" altLang="en-US" sz="1600" dirty="0"/>
              <a:t>현장 개선안 </a:t>
            </a:r>
            <a:r>
              <a:rPr lang="ko-KR" altLang="en-US" sz="1600" dirty="0" smtClean="0"/>
              <a:t>작성 등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064161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smtClean="0"/>
              <a:t>데이터 주요 현황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517652"/>
              </p:ext>
            </p:extLst>
          </p:nvPr>
        </p:nvGraphicFramePr>
        <p:xfrm>
          <a:off x="1068144" y="1826880"/>
          <a:ext cx="7176264" cy="2438400"/>
        </p:xfrm>
        <a:graphic>
          <a:graphicData uri="http://schemas.openxmlformats.org/drawingml/2006/table">
            <a:tbl>
              <a:tblPr/>
              <a:tblGrid>
                <a:gridCol w="3588132">
                  <a:extLst>
                    <a:ext uri="{9D8B030D-6E8A-4147-A177-3AD203B41FA5}">
                      <a16:colId xmlns:a16="http://schemas.microsoft.com/office/drawing/2014/main" val="3426917203"/>
                    </a:ext>
                  </a:extLst>
                </a:gridCol>
                <a:gridCol w="3588132">
                  <a:extLst>
                    <a:ext uri="{9D8B030D-6E8A-4147-A177-3AD203B41FA5}">
                      <a16:colId xmlns:a16="http://schemas.microsoft.com/office/drawing/2014/main" val="8290181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항목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결과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38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전체 생산</a:t>
                      </a:r>
                      <a:r>
                        <a:rPr lang="en-US" altLang="ko-KR" sz="1400" dirty="0"/>
                        <a:t>·</a:t>
                      </a:r>
                      <a:r>
                        <a:rPr lang="ko-KR" altLang="en-US" sz="1400" dirty="0"/>
                        <a:t>검사 건수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1,200</a:t>
                      </a:r>
                      <a:r>
                        <a:rPr lang="ko-KR" altLang="en-US" sz="1400" dirty="0"/>
                        <a:t>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887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실제 합격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1,152</a:t>
                      </a:r>
                      <a:r>
                        <a:rPr lang="ko-KR" altLang="en-US" sz="1400" dirty="0"/>
                        <a:t>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84826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실제 불합격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48</a:t>
                      </a:r>
                      <a:r>
                        <a:rPr lang="ko-KR" altLang="en-US" sz="1400" dirty="0"/>
                        <a:t>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5631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전체 불량률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4.00%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7251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재작업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44</a:t>
                      </a:r>
                      <a:r>
                        <a:rPr lang="ko-KR" altLang="en-US" sz="1400" dirty="0"/>
                        <a:t>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8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주간조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640</a:t>
                      </a:r>
                      <a:r>
                        <a:rPr lang="ko-KR" altLang="en-US" sz="1400" dirty="0"/>
                        <a:t>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7315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 err="1"/>
                        <a:t>야간조</a:t>
                      </a:r>
                      <a:endParaRPr lang="ko-KR" altLang="en-US" sz="14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560</a:t>
                      </a:r>
                      <a:r>
                        <a:rPr lang="ko-KR" altLang="en-US" sz="1400" dirty="0"/>
                        <a:t>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1189678"/>
                  </a:ext>
                </a:extLst>
              </a:tr>
            </a:tbl>
          </a:graphicData>
        </a:graphic>
      </p:graphicFrame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251520" y="908720"/>
            <a:ext cx="8579296" cy="5688632"/>
          </a:xfrm>
        </p:spPr>
        <p:txBody>
          <a:bodyPr>
            <a:norm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ko-KR" sz="2000" kern="100" dirty="0" err="1">
                <a:latin typeface="맑은 고딕" panose="020B0503020000020004" pitchFamily="50" charset="-127"/>
                <a:cs typeface="Times New Roman" panose="02020603050405020304" pitchFamily="18" charset="0"/>
              </a:rPr>
              <a:t>야간조</a:t>
            </a:r>
            <a:r>
              <a:rPr lang="ko-KR" altLang="ko-KR" sz="20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 불량률이 상대적으로 높지만</a:t>
            </a:r>
            <a:r>
              <a:rPr lang="en-US" altLang="ko-KR" sz="20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2000" kern="100" dirty="0" err="1">
                <a:latin typeface="맑은 고딕" panose="020B0503020000020004" pitchFamily="50" charset="-127"/>
                <a:cs typeface="Times New Roman" panose="02020603050405020304" pitchFamily="18" charset="0"/>
              </a:rPr>
              <a:t>근무조</a:t>
            </a:r>
            <a:r>
              <a:rPr lang="ko-KR" altLang="ko-KR" sz="20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 자체를 원인으로 단정하지 않고 </a:t>
            </a:r>
            <a:r>
              <a:rPr lang="ko-KR" altLang="ko-KR" sz="2000" kern="100" dirty="0" err="1">
                <a:latin typeface="맑은 고딕" panose="020B0503020000020004" pitchFamily="50" charset="-127"/>
                <a:cs typeface="Times New Roman" panose="02020603050405020304" pitchFamily="18" charset="0"/>
              </a:rPr>
              <a:t>제품모델</a:t>
            </a:r>
            <a:r>
              <a:rPr lang="en-US" altLang="ko-KR" sz="20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·</a:t>
            </a:r>
            <a:r>
              <a:rPr lang="ko-KR" altLang="ko-KR" sz="20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설비</a:t>
            </a:r>
            <a:r>
              <a:rPr lang="en-US" altLang="ko-KR" sz="20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·</a:t>
            </a:r>
            <a:r>
              <a:rPr lang="ko-KR" altLang="ko-KR" sz="20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작업그룹</a:t>
            </a:r>
            <a:r>
              <a:rPr lang="en-US" altLang="ko-KR" sz="20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·</a:t>
            </a:r>
            <a:r>
              <a:rPr lang="ko-KR" altLang="ko-KR" sz="2000" kern="100" dirty="0" err="1">
                <a:latin typeface="맑은 고딕" panose="020B0503020000020004" pitchFamily="50" charset="-127"/>
                <a:cs typeface="Times New Roman" panose="02020603050405020304" pitchFamily="18" charset="0"/>
              </a:rPr>
              <a:t>체결조건</a:t>
            </a:r>
            <a:r>
              <a:rPr lang="ko-KR" altLang="ko-KR" sz="20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 등을 추가로 확인하도록 </a:t>
            </a:r>
            <a:r>
              <a:rPr lang="ko-KR" altLang="ko-KR" sz="20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구성</a:t>
            </a:r>
            <a:endParaRPr lang="en-US" altLang="ko-KR" sz="20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altLang="ko-KR" sz="20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altLang="ko-KR" sz="20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altLang="ko-KR" sz="20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altLang="ko-KR" sz="20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altLang="ko-KR" sz="20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altLang="ko-KR" sz="20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20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근무조별</a:t>
            </a:r>
            <a:r>
              <a:rPr lang="ko-KR" altLang="en-US" sz="20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불량률</a:t>
            </a:r>
            <a:endParaRPr lang="ko-KR" altLang="ko-KR" sz="20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374829"/>
              </p:ext>
            </p:extLst>
          </p:nvPr>
        </p:nvGraphicFramePr>
        <p:xfrm>
          <a:off x="1068144" y="5234136"/>
          <a:ext cx="7176264" cy="1219200"/>
        </p:xfrm>
        <a:graphic>
          <a:graphicData uri="http://schemas.openxmlformats.org/drawingml/2006/table">
            <a:tbl>
              <a:tblPr/>
              <a:tblGrid>
                <a:gridCol w="1794066">
                  <a:extLst>
                    <a:ext uri="{9D8B030D-6E8A-4147-A177-3AD203B41FA5}">
                      <a16:colId xmlns:a16="http://schemas.microsoft.com/office/drawing/2014/main" val="4046984997"/>
                    </a:ext>
                  </a:extLst>
                </a:gridCol>
                <a:gridCol w="1794066">
                  <a:extLst>
                    <a:ext uri="{9D8B030D-6E8A-4147-A177-3AD203B41FA5}">
                      <a16:colId xmlns:a16="http://schemas.microsoft.com/office/drawing/2014/main" val="1186185795"/>
                    </a:ext>
                  </a:extLst>
                </a:gridCol>
                <a:gridCol w="1794066">
                  <a:extLst>
                    <a:ext uri="{9D8B030D-6E8A-4147-A177-3AD203B41FA5}">
                      <a16:colId xmlns:a16="http://schemas.microsoft.com/office/drawing/2014/main" val="1674635495"/>
                    </a:ext>
                  </a:extLst>
                </a:gridCol>
                <a:gridCol w="1794066">
                  <a:extLst>
                    <a:ext uri="{9D8B030D-6E8A-4147-A177-3AD203B41FA5}">
                      <a16:colId xmlns:a16="http://schemas.microsoft.com/office/drawing/2014/main" val="8600887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 err="1"/>
                        <a:t>근무조</a:t>
                      </a:r>
                      <a:endParaRPr lang="ko-KR" altLang="en-US" sz="14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생산</a:t>
                      </a:r>
                      <a:r>
                        <a:rPr lang="en-US" altLang="ko-KR" sz="1400" dirty="0"/>
                        <a:t>·</a:t>
                      </a:r>
                      <a:r>
                        <a:rPr lang="ko-KR" altLang="en-US" sz="1400" dirty="0"/>
                        <a:t>검사 건수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불합격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불량률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857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 err="1"/>
                        <a:t>주간조</a:t>
                      </a:r>
                      <a:endParaRPr lang="ko-KR" altLang="en-US" sz="14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/>
                        <a:t>640</a:t>
                      </a:r>
                      <a:r>
                        <a:rPr lang="ko-KR" altLang="en-US" sz="1400"/>
                        <a:t>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/>
                        <a:t>18</a:t>
                      </a:r>
                      <a:r>
                        <a:rPr lang="ko-KR" altLang="en-US" sz="1400"/>
                        <a:t>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/>
                        <a:t>2.81%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0316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야간조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/>
                        <a:t>560</a:t>
                      </a:r>
                      <a:r>
                        <a:rPr lang="ko-KR" altLang="en-US" sz="1400"/>
                        <a:t>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/>
                        <a:t>30</a:t>
                      </a:r>
                      <a:r>
                        <a:rPr lang="ko-KR" altLang="en-US" sz="1400"/>
                        <a:t>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/>
                        <a:t>5.36%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6241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전체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/>
                        <a:t>1,200</a:t>
                      </a:r>
                      <a:r>
                        <a:rPr lang="ko-KR" altLang="en-US" sz="1400"/>
                        <a:t>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/>
                        <a:t>48</a:t>
                      </a:r>
                      <a:r>
                        <a:rPr lang="ko-KR" altLang="en-US" sz="1400"/>
                        <a:t>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4.00%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82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3365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smtClean="0"/>
              <a:t>주요 변</a:t>
            </a:r>
            <a:r>
              <a:rPr lang="ko-KR" altLang="en-US" dirty="0" smtClean="0"/>
              <a:t>수</a:t>
            </a:r>
            <a:endParaRPr lang="ko-KR" altLang="en-US" dirty="0"/>
          </a:p>
        </p:txBody>
      </p:sp>
      <p:graphicFrame>
        <p:nvGraphicFramePr>
          <p:cNvPr id="3" name="내용 개체 틀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8475604"/>
              </p:ext>
            </p:extLst>
          </p:nvPr>
        </p:nvGraphicFramePr>
        <p:xfrm>
          <a:off x="500842" y="1484784"/>
          <a:ext cx="8207779" cy="3505200"/>
        </p:xfrm>
        <a:graphic>
          <a:graphicData uri="http://schemas.openxmlformats.org/drawingml/2006/table">
            <a:tbl>
              <a:tblPr/>
              <a:tblGrid>
                <a:gridCol w="1860731">
                  <a:extLst>
                    <a:ext uri="{9D8B030D-6E8A-4147-A177-3AD203B41FA5}">
                      <a16:colId xmlns:a16="http://schemas.microsoft.com/office/drawing/2014/main" val="3743329339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317656383"/>
                    </a:ext>
                  </a:extLst>
                </a:gridCol>
                <a:gridCol w="3034680">
                  <a:extLst>
                    <a:ext uri="{9D8B030D-6E8A-4147-A177-3AD203B41FA5}">
                      <a16:colId xmlns:a16="http://schemas.microsoft.com/office/drawing/2014/main" val="6488621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/>
                        <a:t>변수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/>
                        <a:t>주요 변수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/>
                        <a:t>분석 목적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9217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/>
                        <a:t>식별</a:t>
                      </a:r>
                      <a:r>
                        <a:rPr lang="en-US" altLang="ko-KR" sz="1600"/>
                        <a:t>·</a:t>
                      </a:r>
                      <a:r>
                        <a:rPr lang="ko-KR" altLang="en-US" sz="1600"/>
                        <a:t>시간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/>
                        <a:t>기록번호</a:t>
                      </a:r>
                      <a:r>
                        <a:rPr lang="en-US" altLang="ko-KR" sz="1600"/>
                        <a:t>, </a:t>
                      </a:r>
                      <a:r>
                        <a:rPr lang="ko-KR" altLang="en-US" sz="1600"/>
                        <a:t>생산시각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/>
                        <a:t>개별 제품 추적</a:t>
                      </a:r>
                      <a:r>
                        <a:rPr lang="en-US" altLang="ko-KR" sz="1600"/>
                        <a:t>, </a:t>
                      </a:r>
                      <a:r>
                        <a:rPr lang="ko-KR" altLang="en-US" sz="1600"/>
                        <a:t>시간대별 분석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4771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/>
                        <a:t>생산조건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/>
                        <a:t>근무조</a:t>
                      </a:r>
                      <a:r>
                        <a:rPr lang="en-US" altLang="ko-KR" sz="1600"/>
                        <a:t>, </a:t>
                      </a:r>
                      <a:r>
                        <a:rPr lang="ko-KR" altLang="en-US" sz="1600"/>
                        <a:t>생산라인</a:t>
                      </a:r>
                      <a:r>
                        <a:rPr lang="en-US" altLang="ko-KR" sz="1600"/>
                        <a:t>, </a:t>
                      </a:r>
                      <a:r>
                        <a:rPr lang="ko-KR" altLang="en-US" sz="1600"/>
                        <a:t>제품모델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/>
                        <a:t>조건별 품질 차이 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6652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/>
                        <a:t>작업조건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/>
                        <a:t>설비번호</a:t>
                      </a:r>
                      <a:r>
                        <a:rPr lang="en-US" altLang="ko-KR" sz="1600"/>
                        <a:t>, </a:t>
                      </a:r>
                      <a:r>
                        <a:rPr lang="ko-KR" altLang="en-US" sz="1600"/>
                        <a:t>작업그룹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/>
                        <a:t>특정 설비</a:t>
                      </a:r>
                      <a:r>
                        <a:rPr lang="en-US" altLang="ko-KR" sz="1600"/>
                        <a:t>·</a:t>
                      </a:r>
                      <a:r>
                        <a:rPr lang="ko-KR" altLang="en-US" sz="1600"/>
                        <a:t>작업그룹 집중 여부 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4493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/>
                        <a:t>공정조건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/>
                        <a:t>체결토크</a:t>
                      </a:r>
                      <a:r>
                        <a:rPr lang="en-US" altLang="ko-KR" sz="1600"/>
                        <a:t>, </a:t>
                      </a:r>
                      <a:r>
                        <a:rPr lang="ko-KR" altLang="en-US" sz="1600"/>
                        <a:t>공압</a:t>
                      </a:r>
                      <a:r>
                        <a:rPr lang="en-US" altLang="ko-KR" sz="1600"/>
                        <a:t>, </a:t>
                      </a:r>
                      <a:r>
                        <a:rPr lang="ko-KR" altLang="en-US" sz="1600"/>
                        <a:t>사이클타임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/>
                        <a:t>조립조건과 불량의 관계 분석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4500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/>
                        <a:t>설비상태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/>
                        <a:t>온도</a:t>
                      </a:r>
                      <a:r>
                        <a:rPr lang="en-US" altLang="ko-KR" sz="1600"/>
                        <a:t>, </a:t>
                      </a:r>
                      <a:r>
                        <a:rPr lang="ko-KR" altLang="en-US" sz="1600"/>
                        <a:t>진동</a:t>
                      </a:r>
                      <a:r>
                        <a:rPr lang="en-US" altLang="ko-KR" sz="1600"/>
                        <a:t>, </a:t>
                      </a:r>
                      <a:r>
                        <a:rPr lang="ko-KR" altLang="en-US" sz="1600"/>
                        <a:t>정지시간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/>
                        <a:t>설비 이상과 품질</a:t>
                      </a:r>
                      <a:r>
                        <a:rPr lang="en-US" altLang="ko-KR" sz="1600"/>
                        <a:t>·</a:t>
                      </a:r>
                      <a:r>
                        <a:rPr lang="ko-KR" altLang="en-US" sz="1600"/>
                        <a:t>생산성 관계 분석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8761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/>
                        <a:t>생산효율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/>
                        <a:t>에너지 사용량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/>
                        <a:t>제품당 에너지 효율 분석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9381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/>
                        <a:t>검사결과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/>
                        <a:t>합격</a:t>
                      </a:r>
                      <a:r>
                        <a:rPr lang="en-US" altLang="ko-KR" sz="1600"/>
                        <a:t>·</a:t>
                      </a:r>
                      <a:r>
                        <a:rPr lang="ko-KR" altLang="en-US" sz="1600"/>
                        <a:t>불합격</a:t>
                      </a:r>
                      <a:r>
                        <a:rPr lang="en-US" altLang="ko-KR" sz="1600"/>
                        <a:t>, </a:t>
                      </a:r>
                      <a:r>
                        <a:rPr lang="ko-KR" altLang="en-US" sz="1600"/>
                        <a:t>불량유형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/>
                        <a:t>불량 현황과 유형 분석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9591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/>
                        <a:t>사후조치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/>
                        <a:t>재작업 여부</a:t>
                      </a:r>
                      <a:r>
                        <a:rPr lang="en-US" altLang="ko-KR" sz="1600"/>
                        <a:t>·</a:t>
                      </a:r>
                      <a:r>
                        <a:rPr lang="ko-KR" altLang="en-US" sz="1600"/>
                        <a:t>시간</a:t>
                      </a:r>
                      <a:r>
                        <a:rPr lang="en-US" altLang="ko-KR" sz="1600"/>
                        <a:t>, </a:t>
                      </a:r>
                      <a:r>
                        <a:rPr lang="ko-KR" altLang="en-US" sz="1600"/>
                        <a:t>최종판정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 err="1"/>
                        <a:t>재작업</a:t>
                      </a:r>
                      <a:r>
                        <a:rPr lang="ko-KR" altLang="en-US" sz="1600" dirty="0"/>
                        <a:t> 부담 및 최종 결과 분석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6689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5333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41784" y="1916832"/>
            <a:ext cx="8062664" cy="1470025"/>
          </a:xfrm>
        </p:spPr>
        <p:txBody>
          <a:bodyPr>
            <a:noAutofit/>
          </a:bodyPr>
          <a:lstStyle/>
          <a:p>
            <a:r>
              <a:rPr lang="ko-KR" altLang="en-US" dirty="0" smtClean="0"/>
              <a:t>본 강의</a:t>
            </a:r>
            <a:r>
              <a:rPr lang="ko-KR" altLang="en-US" dirty="0" smtClean="0"/>
              <a:t> 활용 데이터 셋</a:t>
            </a:r>
            <a:r>
              <a:rPr lang="en-US" altLang="ko-KR" dirty="0" smtClean="0"/>
              <a:t>(4</a:t>
            </a:r>
            <a:r>
              <a:rPr lang="ko-KR" altLang="en-US" dirty="0" smtClean="0"/>
              <a:t>개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부제목 3"/>
          <p:cNvSpPr>
            <a:spLocks noGrp="1"/>
          </p:cNvSpPr>
          <p:nvPr>
            <p:ph type="subTitle" idx="1"/>
          </p:nvPr>
        </p:nvSpPr>
        <p:spPr>
          <a:xfrm>
            <a:off x="867544" y="3548608"/>
            <a:ext cx="7304856" cy="1752600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본 캡스톤에서는 </a:t>
            </a:r>
            <a:r>
              <a:rPr lang="ko-KR" altLang="en-US" sz="1400" dirty="0" err="1">
                <a:solidFill>
                  <a:schemeClr val="tx1"/>
                </a:solidFill>
              </a:rPr>
              <a:t>설비보전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에너지관리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생산공정 및 물류운영이라는 서로 다른 스마트팩토리 문제를 다루는 </a:t>
            </a:r>
            <a:r>
              <a:rPr lang="en-US" altLang="ko-KR" sz="1400" dirty="0">
                <a:solidFill>
                  <a:schemeClr val="tx1"/>
                </a:solidFill>
              </a:rPr>
              <a:t>4</a:t>
            </a:r>
            <a:r>
              <a:rPr lang="ko-KR" altLang="en-US" sz="1400" dirty="0">
                <a:solidFill>
                  <a:schemeClr val="tx1"/>
                </a:solidFill>
              </a:rPr>
              <a:t>개의 교육용 합성데이터를 </a:t>
            </a:r>
            <a:r>
              <a:rPr lang="ko-KR" altLang="en-US" sz="1400" dirty="0" smtClean="0">
                <a:solidFill>
                  <a:schemeClr val="tx1"/>
                </a:solidFill>
              </a:rPr>
              <a:t>사용할 예정입니다</a:t>
            </a:r>
            <a:r>
              <a:rPr lang="en-US" altLang="ko-KR" sz="1400" dirty="0" smtClean="0">
                <a:solidFill>
                  <a:schemeClr val="tx1"/>
                </a:solidFill>
              </a:rPr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solidFill>
                  <a:schemeClr val="tx1"/>
                </a:solidFill>
              </a:rPr>
              <a:t>각 </a:t>
            </a:r>
            <a:r>
              <a:rPr lang="ko-KR" altLang="en-US" sz="1400" dirty="0">
                <a:solidFill>
                  <a:schemeClr val="tx1"/>
                </a:solidFill>
              </a:rPr>
              <a:t>데이터는 </a:t>
            </a:r>
            <a:r>
              <a:rPr lang="ko-KR" altLang="en-US" sz="1400" dirty="0" smtClean="0">
                <a:solidFill>
                  <a:schemeClr val="tx1"/>
                </a:solidFill>
              </a:rPr>
              <a:t>전자제품 </a:t>
            </a:r>
            <a:r>
              <a:rPr lang="ko-KR" altLang="en-US" sz="1400" dirty="0">
                <a:solidFill>
                  <a:schemeClr val="tx1"/>
                </a:solidFill>
              </a:rPr>
              <a:t>제조현장에서 발생할 수 있는 </a:t>
            </a:r>
            <a:r>
              <a:rPr lang="ko-KR" altLang="en-US" sz="1400" dirty="0" err="1">
                <a:solidFill>
                  <a:schemeClr val="tx1"/>
                </a:solidFill>
              </a:rPr>
              <a:t>업무상황과</a:t>
            </a:r>
            <a:r>
              <a:rPr lang="ko-KR" altLang="en-US" sz="1400" dirty="0">
                <a:solidFill>
                  <a:schemeClr val="tx1"/>
                </a:solidFill>
              </a:rPr>
              <a:t> 의사결정 문제를 교육용으로 재구성한 것입니다</a:t>
            </a:r>
            <a:r>
              <a:rPr lang="en-US" altLang="ko-KR" sz="1400" dirty="0">
                <a:solidFill>
                  <a:schemeClr val="tx1"/>
                </a:solidFill>
              </a:rPr>
              <a:t>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/>
                </a:solidFill>
              </a:rPr>
              <a:t>1</a:t>
            </a:r>
            <a:r>
              <a:rPr lang="ko-KR" altLang="en-US" sz="1400" dirty="0">
                <a:solidFill>
                  <a:schemeClr val="tx1"/>
                </a:solidFill>
              </a:rPr>
              <a:t>팀은 공기압축기의 </a:t>
            </a:r>
            <a:r>
              <a:rPr lang="ko-KR" altLang="en-US" sz="1400" dirty="0" err="1">
                <a:solidFill>
                  <a:schemeClr val="tx1"/>
                </a:solidFill>
              </a:rPr>
              <a:t>돌발정지를</a:t>
            </a:r>
            <a:r>
              <a:rPr lang="ko-KR" altLang="en-US" sz="1400" dirty="0">
                <a:solidFill>
                  <a:schemeClr val="tx1"/>
                </a:solidFill>
              </a:rPr>
              <a:t> 예방하는 </a:t>
            </a:r>
            <a:r>
              <a:rPr lang="ko-KR" altLang="en-US" sz="1400" dirty="0" err="1">
                <a:solidFill>
                  <a:schemeClr val="tx1"/>
                </a:solidFill>
              </a:rPr>
              <a:t>예지보전</a:t>
            </a:r>
            <a:r>
              <a:rPr lang="ko-KR" altLang="en-US" sz="1400" dirty="0">
                <a:solidFill>
                  <a:schemeClr val="tx1"/>
                </a:solidFill>
              </a:rPr>
              <a:t> 문제</a:t>
            </a:r>
            <a:r>
              <a:rPr lang="en-US" altLang="ko-KR" sz="1400" dirty="0">
                <a:solidFill>
                  <a:schemeClr val="tx1"/>
                </a:solidFill>
              </a:rPr>
              <a:t>, 2</a:t>
            </a:r>
            <a:r>
              <a:rPr lang="ko-KR" altLang="en-US" sz="1400" dirty="0">
                <a:solidFill>
                  <a:schemeClr val="tx1"/>
                </a:solidFill>
              </a:rPr>
              <a:t>팀은 생산차질을 최소화하면서 </a:t>
            </a:r>
            <a:r>
              <a:rPr lang="ko-KR" altLang="en-US" sz="1400" dirty="0" err="1">
                <a:solidFill>
                  <a:schemeClr val="tx1"/>
                </a:solidFill>
              </a:rPr>
              <a:t>피크전력을</a:t>
            </a:r>
            <a:r>
              <a:rPr lang="ko-KR" altLang="en-US" sz="1400" dirty="0">
                <a:solidFill>
                  <a:schemeClr val="tx1"/>
                </a:solidFill>
              </a:rPr>
              <a:t> 관리하는 에너지 문제</a:t>
            </a:r>
            <a:r>
              <a:rPr lang="en-US" altLang="ko-KR" sz="1400" dirty="0">
                <a:solidFill>
                  <a:schemeClr val="tx1"/>
                </a:solidFill>
              </a:rPr>
              <a:t>, 3</a:t>
            </a:r>
            <a:r>
              <a:rPr lang="ko-KR" altLang="en-US" sz="1400" dirty="0">
                <a:solidFill>
                  <a:schemeClr val="tx1"/>
                </a:solidFill>
              </a:rPr>
              <a:t>팀은 공정 대기와 </a:t>
            </a:r>
            <a:r>
              <a:rPr lang="ko-KR" altLang="en-US" sz="1400" dirty="0" err="1">
                <a:solidFill>
                  <a:schemeClr val="tx1"/>
                </a:solidFill>
              </a:rPr>
              <a:t>납기지연을</a:t>
            </a:r>
            <a:r>
              <a:rPr lang="ko-KR" altLang="en-US" sz="1400" dirty="0">
                <a:solidFill>
                  <a:schemeClr val="tx1"/>
                </a:solidFill>
              </a:rPr>
              <a:t> 줄이는 </a:t>
            </a:r>
            <a:r>
              <a:rPr lang="ko-KR" altLang="en-US" sz="1400" dirty="0" err="1">
                <a:solidFill>
                  <a:schemeClr val="tx1"/>
                </a:solidFill>
              </a:rPr>
              <a:t>병목개선</a:t>
            </a:r>
            <a:r>
              <a:rPr lang="ko-KR" altLang="en-US" sz="1400" dirty="0">
                <a:solidFill>
                  <a:schemeClr val="tx1"/>
                </a:solidFill>
              </a:rPr>
              <a:t> 문제</a:t>
            </a:r>
            <a:r>
              <a:rPr lang="en-US" altLang="ko-KR" sz="1400" dirty="0">
                <a:solidFill>
                  <a:schemeClr val="tx1"/>
                </a:solidFill>
              </a:rPr>
              <a:t>, 4</a:t>
            </a:r>
            <a:r>
              <a:rPr lang="ko-KR" altLang="en-US" sz="1400" dirty="0">
                <a:solidFill>
                  <a:schemeClr val="tx1"/>
                </a:solidFill>
              </a:rPr>
              <a:t>팀은 </a:t>
            </a:r>
            <a:r>
              <a:rPr lang="en-US" altLang="ko-KR" sz="1400" dirty="0">
                <a:solidFill>
                  <a:schemeClr val="tx1"/>
                </a:solidFill>
              </a:rPr>
              <a:t>AGV </a:t>
            </a:r>
            <a:r>
              <a:rPr lang="ko-KR" altLang="en-US" sz="1400" dirty="0">
                <a:solidFill>
                  <a:schemeClr val="tx1"/>
                </a:solidFill>
              </a:rPr>
              <a:t>배송지연으로 인한 </a:t>
            </a:r>
            <a:r>
              <a:rPr lang="ko-KR" altLang="en-US" sz="1400" dirty="0" err="1">
                <a:solidFill>
                  <a:schemeClr val="tx1"/>
                </a:solidFill>
              </a:rPr>
              <a:t>라인정지를</a:t>
            </a:r>
            <a:r>
              <a:rPr lang="ko-KR" altLang="en-US" sz="1400" dirty="0">
                <a:solidFill>
                  <a:schemeClr val="tx1"/>
                </a:solidFill>
              </a:rPr>
              <a:t> 방지하는 </a:t>
            </a:r>
            <a:r>
              <a:rPr lang="ko-KR" altLang="en-US" sz="1400" dirty="0" err="1">
                <a:solidFill>
                  <a:schemeClr val="tx1"/>
                </a:solidFill>
              </a:rPr>
              <a:t>자재공급</a:t>
            </a:r>
            <a:r>
              <a:rPr lang="ko-KR" altLang="en-US" sz="1400" dirty="0">
                <a:solidFill>
                  <a:schemeClr val="tx1"/>
                </a:solidFill>
              </a:rPr>
              <a:t> 문제를 수행합니다</a:t>
            </a:r>
            <a:r>
              <a:rPr lang="en-US" altLang="ko-KR" sz="1400" dirty="0">
                <a:solidFill>
                  <a:schemeClr val="tx1"/>
                </a:solidFill>
              </a:rPr>
              <a:t>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ko-KR" altLang="en-US" sz="1400" dirty="0" err="1" smtClean="0">
                <a:solidFill>
                  <a:schemeClr val="tx1"/>
                </a:solidFill>
              </a:rPr>
              <a:t>미니프로젝트</a:t>
            </a:r>
            <a:r>
              <a:rPr lang="ko-KR" altLang="en-US" sz="1400" dirty="0" smtClean="0">
                <a:solidFill>
                  <a:schemeClr val="tx1"/>
                </a:solidFill>
              </a:rPr>
              <a:t> 수행 이후부터는 각 </a:t>
            </a:r>
            <a:r>
              <a:rPr lang="ko-KR" altLang="en-US" sz="1400" dirty="0" err="1" smtClean="0">
                <a:solidFill>
                  <a:schemeClr val="tx1"/>
                </a:solidFill>
              </a:rPr>
              <a:t>팀별로</a:t>
            </a:r>
            <a:r>
              <a:rPr lang="ko-KR" altLang="en-US" sz="1400" dirty="0" smtClean="0">
                <a:solidFill>
                  <a:schemeClr val="tx1"/>
                </a:solidFill>
              </a:rPr>
              <a:t> 동일한 </a:t>
            </a:r>
            <a:r>
              <a:rPr lang="ko-KR" altLang="en-US" sz="1400" dirty="0" err="1">
                <a:solidFill>
                  <a:schemeClr val="tx1"/>
                </a:solidFill>
              </a:rPr>
              <a:t>데이터셋을</a:t>
            </a:r>
            <a:r>
              <a:rPr lang="ko-KR" altLang="en-US" sz="1400" dirty="0">
                <a:solidFill>
                  <a:schemeClr val="tx1"/>
                </a:solidFill>
              </a:rPr>
              <a:t> 지속적으로 활용하여 문제 정의</a:t>
            </a:r>
            <a:r>
              <a:rPr lang="en-US" altLang="ko-KR" sz="1400" dirty="0">
                <a:solidFill>
                  <a:schemeClr val="tx1"/>
                </a:solidFill>
              </a:rPr>
              <a:t>, KPI </a:t>
            </a:r>
            <a:r>
              <a:rPr lang="ko-KR" altLang="en-US" sz="1400" dirty="0">
                <a:solidFill>
                  <a:schemeClr val="tx1"/>
                </a:solidFill>
              </a:rPr>
              <a:t>설정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데이터 분석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모델 개발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 err="1">
                <a:solidFill>
                  <a:schemeClr val="tx1"/>
                </a:solidFill>
              </a:rPr>
              <a:t>자체검증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교수진 블라인드 검증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대시보드 및 현장 개선안 작성까지 </a:t>
            </a:r>
            <a:r>
              <a:rPr lang="ko-KR" altLang="en-US" sz="1400" dirty="0" smtClean="0">
                <a:solidFill>
                  <a:schemeClr val="tx1"/>
                </a:solidFill>
              </a:rPr>
              <a:t>수행할 예정입니다</a:t>
            </a:r>
            <a:r>
              <a:rPr lang="en-US" altLang="ko-KR" sz="1400" dirty="0">
                <a:solidFill>
                  <a:schemeClr val="tx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17982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smtClean="0"/>
              <a:t>데이터 성격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908720"/>
            <a:ext cx="8579296" cy="568863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/>
              <a:t>4</a:t>
            </a:r>
            <a:r>
              <a:rPr lang="ko-KR" altLang="en-US" sz="2000" dirty="0"/>
              <a:t>개 </a:t>
            </a:r>
            <a:r>
              <a:rPr lang="ko-KR" altLang="en-US" sz="2000" dirty="0" err="1"/>
              <a:t>데이터셋은</a:t>
            </a:r>
            <a:r>
              <a:rPr lang="ko-KR" altLang="en-US" sz="2000" dirty="0"/>
              <a:t> </a:t>
            </a:r>
            <a:r>
              <a:rPr lang="en-US" altLang="ko-KR" sz="2000" dirty="0"/>
              <a:t>LG</a:t>
            </a:r>
            <a:r>
              <a:rPr lang="ko-KR" altLang="en-US" sz="2000" dirty="0"/>
              <a:t>전자의 실제 데이터를 사용한 것이 아니라</a:t>
            </a:r>
            <a:r>
              <a:rPr lang="en-US" altLang="ko-KR" sz="2000" dirty="0"/>
              <a:t>, </a:t>
            </a:r>
            <a:r>
              <a:rPr lang="ko-KR" altLang="en-US" sz="2000" dirty="0"/>
              <a:t>전자제품 제조공장에서 발생할 수 있는 설비</a:t>
            </a:r>
            <a:r>
              <a:rPr lang="en-US" altLang="ko-KR" sz="2000" dirty="0"/>
              <a:t>·</a:t>
            </a:r>
            <a:r>
              <a:rPr lang="ko-KR" altLang="en-US" sz="2000" dirty="0"/>
              <a:t>에너지</a:t>
            </a:r>
            <a:r>
              <a:rPr lang="en-US" altLang="ko-KR" sz="2000" dirty="0"/>
              <a:t>·</a:t>
            </a:r>
            <a:r>
              <a:rPr lang="ko-KR" altLang="en-US" sz="2000" dirty="0"/>
              <a:t>생산</a:t>
            </a:r>
            <a:r>
              <a:rPr lang="en-US" altLang="ko-KR" sz="2000" dirty="0"/>
              <a:t>·</a:t>
            </a:r>
            <a:r>
              <a:rPr lang="ko-KR" altLang="en-US" sz="2000" dirty="0"/>
              <a:t>물류 문제를 교육용으로 재구성한 </a:t>
            </a:r>
            <a:r>
              <a:rPr lang="ko-KR" altLang="en-US" sz="2000" dirty="0" err="1"/>
              <a:t>합성데이터</a:t>
            </a:r>
            <a:endParaRPr lang="en-US" altLang="ko-KR" sz="2000" dirty="0" smtClean="0"/>
          </a:p>
          <a:p>
            <a:pPr>
              <a:lnSpc>
                <a:spcPct val="150000"/>
              </a:lnSpc>
            </a:pPr>
            <a:endParaRPr lang="en-US" altLang="ko-KR" sz="2000" dirty="0" smtClean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825836"/>
              </p:ext>
            </p:extLst>
          </p:nvPr>
        </p:nvGraphicFramePr>
        <p:xfrm>
          <a:off x="484834" y="2726784"/>
          <a:ext cx="8229600" cy="30784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375083997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6733625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864921067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338573118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823049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/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/>
                        <a:t>1</a:t>
                      </a:r>
                      <a:r>
                        <a:rPr lang="ko-KR" altLang="en-US" sz="1600" dirty="0"/>
                        <a:t>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/>
                        <a:t>2</a:t>
                      </a:r>
                      <a:r>
                        <a:rPr lang="ko-KR" altLang="en-US" sz="1600" dirty="0"/>
                        <a:t>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/>
                        <a:t>3</a:t>
                      </a:r>
                      <a:r>
                        <a:rPr lang="ko-KR" altLang="en-US" sz="1600" dirty="0"/>
                        <a:t>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/>
                        <a:t>4</a:t>
                      </a:r>
                      <a:r>
                        <a:rPr lang="ko-KR" altLang="en-US" sz="1600" dirty="0"/>
                        <a:t>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479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600"/>
                        <a:t>프로젝트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/>
                        <a:t>공기압축기 예지보전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/>
                        <a:t>공장 에너지 피크관리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/>
                        <a:t>생산흐름 병목개선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600"/>
                        <a:t>AGV </a:t>
                      </a:r>
                      <a:r>
                        <a:rPr lang="ko-KR" altLang="en-US" sz="1600"/>
                        <a:t>자재공급 안정화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8333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600"/>
                        <a:t>분석 단위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/>
                        <a:t>설비 상태 측정 </a:t>
                      </a:r>
                      <a:r>
                        <a:rPr lang="en-US" altLang="ko-KR" sz="1600"/>
                        <a:t>1</a:t>
                      </a:r>
                      <a:r>
                        <a:rPr lang="ko-KR" altLang="en-US" sz="1600"/>
                        <a:t>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600"/>
                        <a:t>30</a:t>
                      </a:r>
                      <a:r>
                        <a:rPr lang="ko-KR" altLang="en-US" sz="1600"/>
                        <a:t>분 단위 공장 운영 </a:t>
                      </a:r>
                      <a:r>
                        <a:rPr lang="en-US" altLang="ko-KR" sz="1600"/>
                        <a:t>1</a:t>
                      </a:r>
                      <a:r>
                        <a:rPr lang="ko-KR" altLang="en-US" sz="1600"/>
                        <a:t>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/>
                        <a:t>생산 </a:t>
                      </a:r>
                      <a:r>
                        <a:rPr lang="en-US" sz="1600"/>
                        <a:t>Lot 1</a:t>
                      </a:r>
                      <a:r>
                        <a:rPr lang="ko-KR" altLang="en-US" sz="1600"/>
                        <a:t>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/>
                        <a:t>자재공급 요청 </a:t>
                      </a:r>
                      <a:r>
                        <a:rPr lang="en-US" altLang="ko-KR" sz="1600"/>
                        <a:t>1</a:t>
                      </a:r>
                      <a:r>
                        <a:rPr lang="ko-KR" altLang="en-US" sz="1600"/>
                        <a:t>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28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600"/>
                        <a:t>데이터 규모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600"/>
                        <a:t>1,800</a:t>
                      </a:r>
                      <a:r>
                        <a:rPr lang="ko-KR" altLang="en-US" sz="1600"/>
                        <a:t>행</a:t>
                      </a:r>
                      <a:r>
                        <a:rPr lang="en-US" altLang="ko-KR" sz="1600"/>
                        <a:t>×22</a:t>
                      </a:r>
                      <a:r>
                        <a:rPr lang="ko-KR" altLang="en-US" sz="1600"/>
                        <a:t>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600"/>
                        <a:t>1,800</a:t>
                      </a:r>
                      <a:r>
                        <a:rPr lang="ko-KR" altLang="en-US" sz="1600"/>
                        <a:t>행</a:t>
                      </a:r>
                      <a:r>
                        <a:rPr lang="en-US" altLang="ko-KR" sz="1600"/>
                        <a:t>×24</a:t>
                      </a:r>
                      <a:r>
                        <a:rPr lang="ko-KR" altLang="en-US" sz="1600"/>
                        <a:t>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600"/>
                        <a:t>1,600</a:t>
                      </a:r>
                      <a:r>
                        <a:rPr lang="ko-KR" altLang="en-US" sz="1600"/>
                        <a:t>행</a:t>
                      </a:r>
                      <a:r>
                        <a:rPr lang="en-US" altLang="ko-KR" sz="1600"/>
                        <a:t>×26</a:t>
                      </a:r>
                      <a:r>
                        <a:rPr lang="ko-KR" altLang="en-US" sz="1600"/>
                        <a:t>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600"/>
                        <a:t>1,600</a:t>
                      </a:r>
                      <a:r>
                        <a:rPr lang="ko-KR" altLang="en-US" sz="1600"/>
                        <a:t>행</a:t>
                      </a:r>
                      <a:r>
                        <a:rPr lang="en-US" altLang="ko-KR" sz="1600"/>
                        <a:t>×26</a:t>
                      </a:r>
                      <a:r>
                        <a:rPr lang="ko-KR" altLang="en-US" sz="1600"/>
                        <a:t>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3569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600"/>
                        <a:t>데이터 기간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400" dirty="0"/>
                        <a:t>2026.07.01~07.20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400"/>
                        <a:t>2026.07.01~08.07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400" dirty="0"/>
                        <a:t>2026.07.01~10.09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400" dirty="0"/>
                        <a:t>2026.07.01~07.23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856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600"/>
                        <a:t>핵심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/>
                        <a:t>설비</a:t>
                      </a:r>
                      <a:r>
                        <a:rPr lang="en-US" altLang="ko-KR" sz="1600"/>
                        <a:t>·</a:t>
                      </a:r>
                      <a:r>
                        <a:rPr lang="ko-KR" altLang="en-US" sz="1600"/>
                        <a:t>보전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 dirty="0"/>
                        <a:t>에너지</a:t>
                      </a:r>
                      <a:r>
                        <a:rPr lang="en-US" altLang="ko-KR" sz="1600" dirty="0"/>
                        <a:t>·</a:t>
                      </a:r>
                      <a:r>
                        <a:rPr lang="ko-KR" altLang="en-US" sz="1600" dirty="0"/>
                        <a:t>생산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 dirty="0"/>
                        <a:t>공정</a:t>
                      </a:r>
                      <a:r>
                        <a:rPr lang="en-US" altLang="ko-KR" sz="1600" dirty="0"/>
                        <a:t>·</a:t>
                      </a:r>
                      <a:r>
                        <a:rPr lang="ko-KR" altLang="en-US" sz="1600" dirty="0"/>
                        <a:t>납기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/>
                        <a:t>물류</a:t>
                      </a:r>
                      <a:r>
                        <a:rPr lang="en-US" altLang="ko-KR" sz="1600"/>
                        <a:t>·</a:t>
                      </a:r>
                      <a:r>
                        <a:rPr lang="ko-KR" altLang="en-US" sz="1600"/>
                        <a:t>자재공급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9186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600"/>
                        <a:t>주요 목표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/>
                        <a:t>돌발정지 예방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/>
                        <a:t>피크전력 감소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/>
                        <a:t>병목</a:t>
                      </a:r>
                      <a:r>
                        <a:rPr lang="en-US" altLang="ko-KR" sz="1600"/>
                        <a:t>·</a:t>
                      </a:r>
                      <a:r>
                        <a:rPr lang="ko-KR" altLang="en-US" sz="1600"/>
                        <a:t>납기지연 감소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600" dirty="0"/>
                        <a:t>SLA </a:t>
                      </a:r>
                      <a:r>
                        <a:rPr lang="ko-KR" altLang="en-US" sz="1600" dirty="0" err="1"/>
                        <a:t>미준수</a:t>
                      </a:r>
                      <a:r>
                        <a:rPr lang="en-US" altLang="ko-KR" sz="1600" dirty="0"/>
                        <a:t>·</a:t>
                      </a:r>
                      <a:r>
                        <a:rPr lang="ko-KR" altLang="en-US" sz="1600" dirty="0" err="1"/>
                        <a:t>라인정지</a:t>
                      </a:r>
                      <a:r>
                        <a:rPr lang="ko-KR" altLang="en-US" sz="1600" dirty="0"/>
                        <a:t> 감소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63452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5381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팀</a:t>
            </a:r>
            <a:r>
              <a:rPr lang="en-US" altLang="ko-KR" dirty="0"/>
              <a:t>: </a:t>
            </a:r>
            <a:r>
              <a:rPr lang="ko-KR" altLang="en-US" dirty="0"/>
              <a:t>공기압축기 </a:t>
            </a:r>
            <a:r>
              <a:rPr lang="ko-KR" altLang="en-US" dirty="0" err="1"/>
              <a:t>예지보전</a:t>
            </a:r>
            <a:endParaRPr lang="ko-KR" altLang="en-US" dirty="0"/>
          </a:p>
        </p:txBody>
      </p:sp>
      <p:graphicFrame>
        <p:nvGraphicFramePr>
          <p:cNvPr id="6" name="내용 개체 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3311973"/>
              </p:ext>
            </p:extLst>
          </p:nvPr>
        </p:nvGraphicFramePr>
        <p:xfrm>
          <a:off x="457200" y="1124744"/>
          <a:ext cx="8229600" cy="2560320"/>
        </p:xfrm>
        <a:graphic>
          <a:graphicData uri="http://schemas.openxmlformats.org/drawingml/2006/table">
            <a:tbl>
              <a:tblPr/>
              <a:tblGrid>
                <a:gridCol w="1378496">
                  <a:extLst>
                    <a:ext uri="{9D8B030D-6E8A-4147-A177-3AD203B41FA5}">
                      <a16:colId xmlns:a16="http://schemas.microsoft.com/office/drawing/2014/main" val="2763046585"/>
                    </a:ext>
                  </a:extLst>
                </a:gridCol>
                <a:gridCol w="6851104">
                  <a:extLst>
                    <a:ext uri="{9D8B030D-6E8A-4147-A177-3AD203B41FA5}">
                      <a16:colId xmlns:a16="http://schemas.microsoft.com/office/drawing/2014/main" val="3976558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683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시나리오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dirty="0"/>
                        <a:t>공장 공기압축기 </a:t>
                      </a:r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/>
                        <a:t>대의 운전상태를 관찰하여 이상징후를 조기에 발견하고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 err="1"/>
                        <a:t>돌발정지가</a:t>
                      </a:r>
                      <a:r>
                        <a:rPr lang="ko-KR" altLang="en-US" sz="1400" dirty="0"/>
                        <a:t> 발생하기 전에 점검이 필요한 설비를 선정하는 상황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3468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핵심 문제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/>
                        <a:t>온도</a:t>
                      </a:r>
                      <a:r>
                        <a:rPr lang="en-US" altLang="ko-KR" sz="1400"/>
                        <a:t>·</a:t>
                      </a:r>
                      <a:r>
                        <a:rPr lang="ko-KR" altLang="en-US" sz="1400"/>
                        <a:t>진동</a:t>
                      </a:r>
                      <a:r>
                        <a:rPr lang="en-US" altLang="ko-KR" sz="1400"/>
                        <a:t>·</a:t>
                      </a:r>
                      <a:r>
                        <a:rPr lang="ko-KR" altLang="en-US" sz="1400"/>
                        <a:t>압력</a:t>
                      </a:r>
                      <a:r>
                        <a:rPr lang="en-US" altLang="ko-KR" sz="1400"/>
                        <a:t>·</a:t>
                      </a:r>
                      <a:r>
                        <a:rPr lang="ko-KR" altLang="en-US" sz="1400"/>
                        <a:t>전류 등의 변화를 이용하여 향후 </a:t>
                      </a:r>
                      <a:r>
                        <a:rPr lang="en-US" altLang="ko-KR" sz="1400"/>
                        <a:t>24</a:t>
                      </a:r>
                      <a:r>
                        <a:rPr lang="ko-KR" altLang="en-US" sz="1400"/>
                        <a:t>시간 이내 점검이 필요한 공기압축기를 선별할 수 있는가</a:t>
                      </a:r>
                      <a:r>
                        <a:rPr lang="en-US" altLang="ko-KR" sz="1400"/>
                        <a:t>?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1088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데이터 현황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400"/>
                        <a:t>1,800</a:t>
                      </a:r>
                      <a:r>
                        <a:rPr lang="ko-KR" altLang="en-US" sz="1400"/>
                        <a:t>건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공기압축기 </a:t>
                      </a:r>
                      <a:r>
                        <a:rPr lang="en-US" altLang="ko-KR" sz="1400"/>
                        <a:t>4</a:t>
                      </a:r>
                      <a:r>
                        <a:rPr lang="ko-KR" altLang="en-US" sz="1400"/>
                        <a:t>대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주간조 </a:t>
                      </a:r>
                      <a:r>
                        <a:rPr lang="en-US" altLang="ko-KR" sz="1400"/>
                        <a:t>912</a:t>
                      </a:r>
                      <a:r>
                        <a:rPr lang="ko-KR" altLang="en-US" sz="1400"/>
                        <a:t>건</a:t>
                      </a:r>
                      <a:r>
                        <a:rPr lang="en-US" altLang="ko-KR" sz="1400"/>
                        <a:t>·</a:t>
                      </a:r>
                      <a:r>
                        <a:rPr lang="ko-KR" altLang="en-US" sz="1400"/>
                        <a:t>야간조 </a:t>
                      </a:r>
                      <a:r>
                        <a:rPr lang="en-US" altLang="ko-KR" sz="1400"/>
                        <a:t>888</a:t>
                      </a:r>
                      <a:r>
                        <a:rPr lang="ko-KR" altLang="en-US" sz="1400"/>
                        <a:t>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7783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주요 결과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/>
                        <a:t>돌발정지 </a:t>
                      </a:r>
                      <a:r>
                        <a:rPr lang="en-US" altLang="ko-KR" sz="1400"/>
                        <a:t>21</a:t>
                      </a:r>
                      <a:r>
                        <a:rPr lang="ko-KR" altLang="en-US" sz="1400"/>
                        <a:t>건</a:t>
                      </a:r>
                      <a:r>
                        <a:rPr lang="en-US" altLang="ko-KR" sz="1400"/>
                        <a:t>, 24</a:t>
                      </a:r>
                      <a:r>
                        <a:rPr lang="ko-KR" altLang="en-US" sz="1400"/>
                        <a:t>시간 내 점검 필요 </a:t>
                      </a:r>
                      <a:r>
                        <a:rPr lang="en-US" altLang="ko-KR" sz="1400"/>
                        <a:t>55</a:t>
                      </a:r>
                      <a:r>
                        <a:rPr lang="ko-KR" altLang="en-US" sz="1400"/>
                        <a:t>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4155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주요 </a:t>
                      </a:r>
                      <a:r>
                        <a:rPr lang="en-US" sz="1400" dirty="0"/>
                        <a:t>KPI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/>
                        <a:t>돌발정지 건수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설비 정지시간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점검 필요 설비 탐지율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불필요한 점검 경보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5924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주요 분석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dirty="0" err="1"/>
                        <a:t>설비별</a:t>
                      </a:r>
                      <a:r>
                        <a:rPr lang="en-US" altLang="ko-KR" sz="1400" dirty="0"/>
                        <a:t>·</a:t>
                      </a:r>
                      <a:r>
                        <a:rPr lang="ko-KR" altLang="en-US" sz="1400" dirty="0" err="1"/>
                        <a:t>운전모드별</a:t>
                      </a:r>
                      <a:r>
                        <a:rPr lang="ko-KR" altLang="en-US" sz="1400" dirty="0"/>
                        <a:t> 이상징후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 err="1"/>
                        <a:t>돌발정지</a:t>
                      </a:r>
                      <a:r>
                        <a:rPr lang="ko-KR" altLang="en-US" sz="1400" dirty="0"/>
                        <a:t> 이전의 온도</a:t>
                      </a:r>
                      <a:r>
                        <a:rPr lang="en-US" altLang="ko-KR" sz="1400" dirty="0"/>
                        <a:t>·</a:t>
                      </a:r>
                      <a:r>
                        <a:rPr lang="ko-KR" altLang="en-US" sz="1400" dirty="0"/>
                        <a:t>진동 변화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점검 우선순위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903676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7005957"/>
              </p:ext>
            </p:extLst>
          </p:nvPr>
        </p:nvGraphicFramePr>
        <p:xfrm>
          <a:off x="477122" y="4077072"/>
          <a:ext cx="8229600" cy="2133600"/>
        </p:xfrm>
        <a:graphic>
          <a:graphicData uri="http://schemas.openxmlformats.org/drawingml/2006/table">
            <a:tbl>
              <a:tblPr/>
              <a:tblGrid>
                <a:gridCol w="1718614">
                  <a:extLst>
                    <a:ext uri="{9D8B030D-6E8A-4147-A177-3AD203B41FA5}">
                      <a16:colId xmlns:a16="http://schemas.microsoft.com/office/drawing/2014/main" val="3776356508"/>
                    </a:ext>
                  </a:extLst>
                </a:gridCol>
                <a:gridCol w="6510986">
                  <a:extLst>
                    <a:ext uri="{9D8B030D-6E8A-4147-A177-3AD203B41FA5}">
                      <a16:colId xmlns:a16="http://schemas.microsoft.com/office/drawing/2014/main" val="39853975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변수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주요 변수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050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설비</a:t>
                      </a:r>
                      <a:r>
                        <a:rPr lang="en-US" altLang="ko-KR" sz="1400" dirty="0"/>
                        <a:t>·</a:t>
                      </a:r>
                      <a:r>
                        <a:rPr lang="ko-KR" altLang="en-US" sz="1400" dirty="0"/>
                        <a:t>운영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dirty="0"/>
                        <a:t>공기압축기 </a:t>
                      </a:r>
                      <a:r>
                        <a:rPr lang="en-US" altLang="ko-KR" sz="1400" dirty="0"/>
                        <a:t>ID, </a:t>
                      </a:r>
                      <a:r>
                        <a:rPr lang="ko-KR" altLang="en-US" sz="1400" dirty="0" err="1"/>
                        <a:t>근무조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 err="1"/>
                        <a:t>운전모드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 err="1"/>
                        <a:t>부하율</a:t>
                      </a:r>
                      <a:endParaRPr lang="ko-KR" altLang="en-US" sz="14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4527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 err="1"/>
                        <a:t>압축성능</a:t>
                      </a:r>
                      <a:endParaRPr lang="ko-KR" altLang="en-US" sz="14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/>
                        <a:t>토출압력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공기유량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6395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전기</a:t>
                      </a:r>
                      <a:r>
                        <a:rPr lang="en-US" altLang="ko-KR" sz="1400" dirty="0"/>
                        <a:t>·</a:t>
                      </a:r>
                      <a:r>
                        <a:rPr lang="ko-KR" altLang="en-US" sz="1400" dirty="0"/>
                        <a:t>온도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/>
                        <a:t>모터전류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토출온도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오일온도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75439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 err="1"/>
                        <a:t>설비상태</a:t>
                      </a:r>
                      <a:endParaRPr lang="ko-KR" altLang="en-US" sz="14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/>
                        <a:t>진동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노점온도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필터 차압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1820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 err="1"/>
                        <a:t>보전정보</a:t>
                      </a:r>
                      <a:endParaRPr lang="ko-KR" altLang="en-US" sz="14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/>
                        <a:t>정비 후 누적운전시간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알람코드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작업자 점검 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320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 err="1"/>
                        <a:t>결과변수</a:t>
                      </a:r>
                      <a:endParaRPr lang="ko-KR" altLang="en-US" sz="14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dirty="0" err="1"/>
                        <a:t>돌발정지</a:t>
                      </a:r>
                      <a:r>
                        <a:rPr lang="ko-KR" altLang="en-US" sz="1400" dirty="0"/>
                        <a:t> 여부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 err="1"/>
                        <a:t>정지시간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향후 </a:t>
                      </a:r>
                      <a:r>
                        <a:rPr lang="en-US" altLang="ko-KR" sz="1400" dirty="0"/>
                        <a:t>24</a:t>
                      </a:r>
                      <a:r>
                        <a:rPr lang="ko-KR" altLang="en-US" sz="1400" dirty="0"/>
                        <a:t>시간 내 점검 필요 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2104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9561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팀</a:t>
            </a:r>
            <a:r>
              <a:rPr lang="en-US" altLang="ko-KR" dirty="0"/>
              <a:t>: </a:t>
            </a:r>
            <a:r>
              <a:rPr lang="ko-KR" altLang="en-US" dirty="0"/>
              <a:t>공장 에너지 </a:t>
            </a:r>
            <a:r>
              <a:rPr lang="ko-KR" altLang="en-US" dirty="0" err="1"/>
              <a:t>피크관리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7349846"/>
              </p:ext>
            </p:extLst>
          </p:nvPr>
        </p:nvGraphicFramePr>
        <p:xfrm>
          <a:off x="829143" y="1052513"/>
          <a:ext cx="7485714" cy="2868026"/>
        </p:xfrm>
        <a:graphic>
          <a:graphicData uri="http://schemas.openxmlformats.org/drawingml/2006/table">
            <a:tbl>
              <a:tblPr/>
              <a:tblGrid>
                <a:gridCol w="1294585">
                  <a:extLst>
                    <a:ext uri="{9D8B030D-6E8A-4147-A177-3AD203B41FA5}">
                      <a16:colId xmlns:a16="http://schemas.microsoft.com/office/drawing/2014/main" val="2233187294"/>
                    </a:ext>
                  </a:extLst>
                </a:gridCol>
                <a:gridCol w="6191129">
                  <a:extLst>
                    <a:ext uri="{9D8B030D-6E8A-4147-A177-3AD203B41FA5}">
                      <a16:colId xmlns:a16="http://schemas.microsoft.com/office/drawing/2014/main" val="152856570"/>
                    </a:ext>
                  </a:extLst>
                </a:gridCol>
              </a:tblGrid>
              <a:tr h="23629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구분</a:t>
                      </a:r>
                    </a:p>
                  </a:txBody>
                  <a:tcPr marL="83175" marR="83175" marT="41587" marB="415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설명</a:t>
                      </a:r>
                    </a:p>
                  </a:txBody>
                  <a:tcPr marL="83175" marR="83175" marT="41587" marB="415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212158"/>
                  </a:ext>
                </a:extLst>
              </a:tr>
              <a:tr h="57023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시나리오</a:t>
                      </a:r>
                    </a:p>
                  </a:txBody>
                  <a:tcPr marL="83175" marR="83175" marT="41587" marB="415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/>
                        <a:t>생산량과 가동라인이 변하는 공장에서 </a:t>
                      </a:r>
                      <a:r>
                        <a:rPr lang="en-US" altLang="ko-KR" sz="1400"/>
                        <a:t>30</a:t>
                      </a:r>
                      <a:r>
                        <a:rPr lang="ko-KR" altLang="en-US" sz="1400"/>
                        <a:t>분 단위 전력사용량을 관리하여 피크전력을 낮추되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생산계획 차질은 최소화하는 상황</a:t>
                      </a:r>
                    </a:p>
                  </a:txBody>
                  <a:tcPr marL="83175" marR="83175" marT="41587" marB="415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6890278"/>
                  </a:ext>
                </a:extLst>
              </a:tr>
              <a:tr h="57023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핵심 문제</a:t>
                      </a:r>
                    </a:p>
                  </a:txBody>
                  <a:tcPr marL="83175" marR="83175" marT="41587" marB="415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/>
                        <a:t>생산조건</a:t>
                      </a:r>
                      <a:r>
                        <a:rPr lang="en-US" altLang="ko-KR" sz="1400"/>
                        <a:t>·</a:t>
                      </a:r>
                      <a:r>
                        <a:rPr lang="ko-KR" altLang="en-US" sz="1400"/>
                        <a:t>요금시간대</a:t>
                      </a:r>
                      <a:r>
                        <a:rPr lang="en-US" altLang="ko-KR" sz="1400"/>
                        <a:t>·</a:t>
                      </a:r>
                      <a:r>
                        <a:rPr lang="ko-KR" altLang="en-US" sz="1400"/>
                        <a:t>기온</a:t>
                      </a:r>
                      <a:r>
                        <a:rPr lang="en-US" altLang="ko-KR" sz="1400"/>
                        <a:t>·</a:t>
                      </a:r>
                      <a:r>
                        <a:rPr lang="ko-KR" altLang="en-US" sz="1400"/>
                        <a:t>설비부하를 고려하여 피크전력 발생을 예측하고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생산손실 없이 부하를 조정할 수 있는가</a:t>
                      </a:r>
                      <a:r>
                        <a:rPr lang="en-US" altLang="ko-KR" sz="1400"/>
                        <a:t>?</a:t>
                      </a:r>
                    </a:p>
                  </a:txBody>
                  <a:tcPr marL="83175" marR="83175" marT="41587" marB="415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4083966"/>
                  </a:ext>
                </a:extLst>
              </a:tr>
              <a:tr h="30704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데이터 현황</a:t>
                      </a:r>
                    </a:p>
                  </a:txBody>
                  <a:tcPr marL="83175" marR="83175" marT="41587" marB="415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400"/>
                        <a:t>1,800</a:t>
                      </a:r>
                      <a:r>
                        <a:rPr lang="ko-KR" altLang="en-US" sz="1400"/>
                        <a:t>건</a:t>
                      </a:r>
                      <a:r>
                        <a:rPr lang="en-US" altLang="ko-KR" sz="1400"/>
                        <a:t>, 30</a:t>
                      </a:r>
                      <a:r>
                        <a:rPr lang="ko-KR" altLang="en-US" sz="1400"/>
                        <a:t>분 단위 기록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평일 </a:t>
                      </a:r>
                      <a:r>
                        <a:rPr lang="en-US" altLang="ko-KR" sz="1400"/>
                        <a:t>1,320</a:t>
                      </a:r>
                      <a:r>
                        <a:rPr lang="ko-KR" altLang="en-US" sz="1400"/>
                        <a:t>건</a:t>
                      </a:r>
                      <a:r>
                        <a:rPr lang="en-US" altLang="ko-KR" sz="1400"/>
                        <a:t>·</a:t>
                      </a:r>
                      <a:r>
                        <a:rPr lang="ko-KR" altLang="en-US" sz="1400"/>
                        <a:t>주말 </a:t>
                      </a:r>
                      <a:r>
                        <a:rPr lang="en-US" altLang="ko-KR" sz="1400"/>
                        <a:t>480</a:t>
                      </a:r>
                      <a:r>
                        <a:rPr lang="ko-KR" altLang="en-US" sz="1400"/>
                        <a:t>건</a:t>
                      </a:r>
                    </a:p>
                  </a:txBody>
                  <a:tcPr marL="83175" marR="83175" marT="41587" marB="415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6698528"/>
                  </a:ext>
                </a:extLst>
              </a:tr>
              <a:tr h="30704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주요 결과</a:t>
                      </a:r>
                    </a:p>
                  </a:txBody>
                  <a:tcPr marL="83175" marR="83175" marT="41587" marB="415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/>
                        <a:t>피크 이벤트 </a:t>
                      </a:r>
                      <a:r>
                        <a:rPr lang="en-US" altLang="ko-KR" sz="1400"/>
                        <a:t>660</a:t>
                      </a:r>
                      <a:r>
                        <a:rPr lang="ko-KR" altLang="en-US" sz="1400"/>
                        <a:t>건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평균 피크수요 약 </a:t>
                      </a:r>
                      <a:r>
                        <a:rPr lang="en-US" altLang="ko-KR" sz="1400"/>
                        <a:t>533.45kW, </a:t>
                      </a:r>
                      <a:r>
                        <a:rPr lang="ko-KR" altLang="en-US" sz="1400"/>
                        <a:t>평균 생산부족 약 </a:t>
                      </a:r>
                      <a:r>
                        <a:rPr lang="en-US" altLang="ko-KR" sz="1400"/>
                        <a:t>7.98</a:t>
                      </a:r>
                      <a:r>
                        <a:rPr lang="ko-KR" altLang="en-US" sz="1400"/>
                        <a:t>개</a:t>
                      </a:r>
                    </a:p>
                  </a:txBody>
                  <a:tcPr marL="83175" marR="83175" marT="41587" marB="415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4705206"/>
                  </a:ext>
                </a:extLst>
              </a:tr>
              <a:tr h="30704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주요 </a:t>
                      </a:r>
                      <a:r>
                        <a:rPr lang="en-US" sz="1400" dirty="0"/>
                        <a:t>KPI</a:t>
                      </a:r>
                    </a:p>
                  </a:txBody>
                  <a:tcPr marL="83175" marR="83175" marT="41587" marB="415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/>
                        <a:t>피크전력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피크 이벤트 발생률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제품당 에너지 사용량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생산계획 달성률</a:t>
                      </a:r>
                    </a:p>
                  </a:txBody>
                  <a:tcPr marL="83175" marR="83175" marT="41587" marB="415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5790452"/>
                  </a:ext>
                </a:extLst>
              </a:tr>
              <a:tr h="43863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주요 분석</a:t>
                      </a:r>
                    </a:p>
                  </a:txBody>
                  <a:tcPr marL="83175" marR="83175" marT="41587" marB="415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dirty="0"/>
                        <a:t>요금시간대별 피크 발생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 err="1"/>
                        <a:t>가동라인</a:t>
                      </a:r>
                      <a:r>
                        <a:rPr lang="ko-KR" altLang="en-US" sz="1400" dirty="0"/>
                        <a:t> 수와 전력수요 관계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 err="1"/>
                        <a:t>제품조합별</a:t>
                      </a:r>
                      <a:r>
                        <a:rPr lang="ko-KR" altLang="en-US" sz="1400" dirty="0"/>
                        <a:t> 에너지 효율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생산량과 </a:t>
                      </a:r>
                      <a:r>
                        <a:rPr lang="ko-KR" altLang="en-US" sz="1400" dirty="0" err="1"/>
                        <a:t>절감조치의</a:t>
                      </a:r>
                      <a:r>
                        <a:rPr lang="ko-KR" altLang="en-US" sz="1400" dirty="0"/>
                        <a:t> 균형</a:t>
                      </a:r>
                    </a:p>
                  </a:txBody>
                  <a:tcPr marL="83175" marR="83175" marT="41587" marB="415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8473726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531007"/>
              </p:ext>
            </p:extLst>
          </p:nvPr>
        </p:nvGraphicFramePr>
        <p:xfrm>
          <a:off x="809571" y="4221088"/>
          <a:ext cx="7505286" cy="2133600"/>
        </p:xfrm>
        <a:graphic>
          <a:graphicData uri="http://schemas.openxmlformats.org/drawingml/2006/table">
            <a:tbl>
              <a:tblPr/>
              <a:tblGrid>
                <a:gridCol w="1444747">
                  <a:extLst>
                    <a:ext uri="{9D8B030D-6E8A-4147-A177-3AD203B41FA5}">
                      <a16:colId xmlns:a16="http://schemas.microsoft.com/office/drawing/2014/main" val="877598984"/>
                    </a:ext>
                  </a:extLst>
                </a:gridCol>
                <a:gridCol w="6060539">
                  <a:extLst>
                    <a:ext uri="{9D8B030D-6E8A-4147-A177-3AD203B41FA5}">
                      <a16:colId xmlns:a16="http://schemas.microsoft.com/office/drawing/2014/main" val="28952301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변수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주요 변수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815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시간</a:t>
                      </a:r>
                      <a:r>
                        <a:rPr lang="en-US" altLang="ko-KR" sz="1400" dirty="0"/>
                        <a:t>·</a:t>
                      </a:r>
                      <a:r>
                        <a:rPr lang="ko-KR" altLang="en-US" sz="1400" dirty="0"/>
                        <a:t>운영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/>
                        <a:t>평일</a:t>
                      </a:r>
                      <a:r>
                        <a:rPr lang="en-US" altLang="ko-KR" sz="1400"/>
                        <a:t>·</a:t>
                      </a:r>
                      <a:r>
                        <a:rPr lang="ko-KR" altLang="en-US" sz="1400"/>
                        <a:t>주말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근무조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요금시간대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882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생산조건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/>
                        <a:t>가동라인 수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제품조합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실제 생산량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계획 생산량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44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에너지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/>
                        <a:t>공장설비 전력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공정 전력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냉난방 전력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압축공기 전력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7610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환경</a:t>
                      </a:r>
                      <a:r>
                        <a:rPr lang="en-US" altLang="ko-KR" sz="1400" dirty="0"/>
                        <a:t>·</a:t>
                      </a:r>
                      <a:r>
                        <a:rPr lang="ko-KR" altLang="en-US" sz="1400" dirty="0"/>
                        <a:t>운영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/>
                        <a:t>외기온도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습도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유휴시간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품종교체시간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2823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 err="1"/>
                        <a:t>효율지표</a:t>
                      </a:r>
                      <a:endParaRPr lang="ko-KR" altLang="en-US" sz="14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/>
                        <a:t>역률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제품당 에너지 사용량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080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 err="1"/>
                        <a:t>결과변수</a:t>
                      </a:r>
                      <a:endParaRPr lang="ko-KR" altLang="en-US" sz="14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dirty="0" err="1"/>
                        <a:t>피크수요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피크 이벤트 여부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 err="1"/>
                        <a:t>생산부족</a:t>
                      </a:r>
                      <a:r>
                        <a:rPr lang="ko-KR" altLang="en-US" sz="1400" dirty="0"/>
                        <a:t> 수량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1347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385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팀</a:t>
            </a:r>
            <a:r>
              <a:rPr lang="en-US" altLang="ko-KR" dirty="0"/>
              <a:t>: </a:t>
            </a:r>
            <a:r>
              <a:rPr lang="ko-KR" altLang="en-US" dirty="0" err="1"/>
              <a:t>생산흐름</a:t>
            </a:r>
            <a:r>
              <a:rPr lang="ko-KR" altLang="en-US" dirty="0"/>
              <a:t> </a:t>
            </a:r>
            <a:r>
              <a:rPr lang="ko-KR" altLang="en-US" dirty="0" err="1"/>
              <a:t>병목개선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9327752"/>
              </p:ext>
            </p:extLst>
          </p:nvPr>
        </p:nvGraphicFramePr>
        <p:xfrm>
          <a:off x="755576" y="995393"/>
          <a:ext cx="7632848" cy="3005652"/>
        </p:xfrm>
        <a:graphic>
          <a:graphicData uri="http://schemas.openxmlformats.org/drawingml/2006/table">
            <a:tbl>
              <a:tblPr/>
              <a:tblGrid>
                <a:gridCol w="1659462">
                  <a:extLst>
                    <a:ext uri="{9D8B030D-6E8A-4147-A177-3AD203B41FA5}">
                      <a16:colId xmlns:a16="http://schemas.microsoft.com/office/drawing/2014/main" val="2181253251"/>
                    </a:ext>
                  </a:extLst>
                </a:gridCol>
                <a:gridCol w="5973386">
                  <a:extLst>
                    <a:ext uri="{9D8B030D-6E8A-4147-A177-3AD203B41FA5}">
                      <a16:colId xmlns:a16="http://schemas.microsoft.com/office/drawing/2014/main" val="376577255"/>
                    </a:ext>
                  </a:extLst>
                </a:gridCol>
              </a:tblGrid>
              <a:tr h="17010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구분</a:t>
                      </a:r>
                    </a:p>
                  </a:txBody>
                  <a:tcPr marL="79276" marR="79276" marT="39638" marB="3963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설명</a:t>
                      </a:r>
                    </a:p>
                  </a:txBody>
                  <a:tcPr marL="79276" marR="79276" marT="39638" marB="3963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571631"/>
                  </a:ext>
                </a:extLst>
              </a:tr>
              <a:tr h="55283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시나리오</a:t>
                      </a:r>
                    </a:p>
                  </a:txBody>
                  <a:tcPr marL="79276" marR="79276" marT="39638" marB="3963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/>
                        <a:t>여러 제품군이 </a:t>
                      </a:r>
                      <a:r>
                        <a:rPr lang="en-US" altLang="ko-KR" sz="1400"/>
                        <a:t>4</a:t>
                      </a:r>
                      <a:r>
                        <a:rPr lang="ko-KR" altLang="en-US" sz="1400"/>
                        <a:t>개 주요 공정을 거쳐 생산되는 라인에서 대기시간과 재공품이 증가하고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납기지연이 반복되는 상황</a:t>
                      </a:r>
                    </a:p>
                  </a:txBody>
                  <a:tcPr marL="79276" marR="79276" marT="39638" marB="3963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517559"/>
                  </a:ext>
                </a:extLst>
              </a:tr>
              <a:tr h="55283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핵심 문제</a:t>
                      </a:r>
                    </a:p>
                  </a:txBody>
                  <a:tcPr marL="79276" marR="79276" marT="39638" marB="3963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/>
                        <a:t>어느 공정과 대기구간에서 생산흐름이 막히는지 확인하고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납기준수율을 높이기 위한 개선 우선순위를 결정할 수 있는가</a:t>
                      </a:r>
                      <a:r>
                        <a:rPr lang="en-US" altLang="ko-KR" sz="1400"/>
                        <a:t>?</a:t>
                      </a:r>
                    </a:p>
                  </a:txBody>
                  <a:tcPr marL="79276" marR="79276" marT="39638" marB="3963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1803103"/>
                  </a:ext>
                </a:extLst>
              </a:tr>
              <a:tr h="29767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데이터 현황</a:t>
                      </a:r>
                    </a:p>
                  </a:txBody>
                  <a:tcPr marL="79276" marR="79276" marT="39638" marB="3963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400"/>
                        <a:t>1,600</a:t>
                      </a:r>
                      <a:r>
                        <a:rPr lang="ko-KR" altLang="en-US" sz="1400"/>
                        <a:t>개 생산 </a:t>
                      </a:r>
                      <a:r>
                        <a:rPr lang="en-US" altLang="ko-KR" sz="1400"/>
                        <a:t>Lot, 3</a:t>
                      </a:r>
                      <a:r>
                        <a:rPr lang="ko-KR" altLang="en-US" sz="1400"/>
                        <a:t>개 라인</a:t>
                      </a:r>
                      <a:r>
                        <a:rPr lang="en-US" altLang="ko-KR" sz="1400"/>
                        <a:t>, 3</a:t>
                      </a:r>
                      <a:r>
                        <a:rPr lang="ko-KR" altLang="en-US" sz="1400"/>
                        <a:t>개 제품군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주간조</a:t>
                      </a:r>
                      <a:r>
                        <a:rPr lang="en-US" altLang="ko-KR" sz="1400"/>
                        <a:t>·</a:t>
                      </a:r>
                      <a:r>
                        <a:rPr lang="ko-KR" altLang="en-US" sz="1400"/>
                        <a:t>야간조 각 </a:t>
                      </a:r>
                      <a:r>
                        <a:rPr lang="en-US" altLang="ko-KR" sz="1400"/>
                        <a:t>800</a:t>
                      </a:r>
                      <a:r>
                        <a:rPr lang="ko-KR" altLang="en-US" sz="1400"/>
                        <a:t>건</a:t>
                      </a:r>
                    </a:p>
                  </a:txBody>
                  <a:tcPr marL="79276" marR="79276" marT="39638" marB="3963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8697537"/>
                  </a:ext>
                </a:extLst>
              </a:tr>
              <a:tr h="42525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주요 결과</a:t>
                      </a:r>
                    </a:p>
                  </a:txBody>
                  <a:tcPr marL="79276" marR="79276" marT="39638" marB="3963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dirty="0" err="1"/>
                        <a:t>정시완료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263</a:t>
                      </a:r>
                      <a:r>
                        <a:rPr lang="ko-KR" altLang="en-US" sz="1400" dirty="0"/>
                        <a:t>건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 err="1"/>
                        <a:t>지연완료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1,337</a:t>
                      </a:r>
                      <a:r>
                        <a:rPr lang="ko-KR" altLang="en-US" sz="1400" dirty="0"/>
                        <a:t>건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평균 실제 리드타임 약 </a:t>
                      </a:r>
                      <a:r>
                        <a:rPr lang="en-US" altLang="ko-KR" sz="1400" dirty="0"/>
                        <a:t>248.12</a:t>
                      </a:r>
                      <a:r>
                        <a:rPr lang="ko-KR" altLang="en-US" sz="1400" dirty="0"/>
                        <a:t>분</a:t>
                      </a:r>
                      <a:r>
                        <a:rPr lang="en-US" altLang="ko-KR" sz="1400" dirty="0"/>
                        <a:t>, </a:t>
                      </a:r>
                      <a:r>
                        <a:rPr lang="en-US" altLang="ko-KR" sz="1400" dirty="0" smtClean="0"/>
                        <a:t/>
                      </a:r>
                      <a:br>
                        <a:rPr lang="en-US" altLang="ko-KR" sz="1400" dirty="0" smtClean="0"/>
                      </a:br>
                      <a:r>
                        <a:rPr lang="ko-KR" altLang="en-US" sz="1400" dirty="0" smtClean="0"/>
                        <a:t>평균 </a:t>
                      </a:r>
                      <a:r>
                        <a:rPr lang="ko-KR" altLang="en-US" sz="1400" dirty="0" err="1"/>
                        <a:t>일정지연</a:t>
                      </a:r>
                      <a:r>
                        <a:rPr lang="ko-KR" altLang="en-US" sz="1400" dirty="0"/>
                        <a:t> 약 </a:t>
                      </a:r>
                      <a:r>
                        <a:rPr lang="en-US" altLang="ko-KR" sz="1400" dirty="0"/>
                        <a:t>38.97</a:t>
                      </a:r>
                      <a:r>
                        <a:rPr lang="ko-KR" altLang="en-US" sz="1400" dirty="0"/>
                        <a:t>분</a:t>
                      </a:r>
                    </a:p>
                  </a:txBody>
                  <a:tcPr marL="79276" marR="79276" marT="39638" marB="3963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6996787"/>
                  </a:ext>
                </a:extLst>
              </a:tr>
              <a:tr h="29767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주요 </a:t>
                      </a:r>
                      <a:r>
                        <a:rPr lang="en-US" sz="1400" dirty="0"/>
                        <a:t>KPI</a:t>
                      </a:r>
                    </a:p>
                  </a:txBody>
                  <a:tcPr marL="79276" marR="79276" marT="39638" marB="3963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/>
                        <a:t>정시완료율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실제 리드타임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일정지연시간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공정 대기시간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재공품 수량</a:t>
                      </a:r>
                    </a:p>
                  </a:txBody>
                  <a:tcPr marL="79276" marR="79276" marT="39638" marB="3963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1948146"/>
                  </a:ext>
                </a:extLst>
              </a:tr>
              <a:tr h="42525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주요 분석</a:t>
                      </a:r>
                    </a:p>
                  </a:txBody>
                  <a:tcPr marL="79276" marR="79276" marT="39638" marB="3963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dirty="0" err="1"/>
                        <a:t>병목공정</a:t>
                      </a:r>
                      <a:r>
                        <a:rPr lang="ko-KR" altLang="en-US" sz="1400" dirty="0"/>
                        <a:t> 식별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 err="1"/>
                        <a:t>공정별</a:t>
                      </a:r>
                      <a:r>
                        <a:rPr lang="ko-KR" altLang="en-US" sz="1400" dirty="0"/>
                        <a:t> </a:t>
                      </a:r>
                      <a:r>
                        <a:rPr lang="ko-KR" altLang="en-US" sz="1400" dirty="0" err="1"/>
                        <a:t>사이클타임</a:t>
                      </a:r>
                      <a:r>
                        <a:rPr lang="ko-KR" altLang="en-US" sz="1400" dirty="0"/>
                        <a:t> 비교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대기시간과 납기지연 관계</a:t>
                      </a:r>
                      <a:r>
                        <a:rPr lang="en-US" altLang="ko-KR" sz="1400" dirty="0"/>
                        <a:t>, </a:t>
                      </a:r>
                      <a:r>
                        <a:rPr lang="en-US" altLang="ko-KR" sz="1400" dirty="0" smtClean="0"/>
                        <a:t/>
                      </a:r>
                      <a:br>
                        <a:rPr lang="en-US" altLang="ko-KR" sz="1400" dirty="0" smtClean="0"/>
                      </a:br>
                      <a:r>
                        <a:rPr lang="ko-KR" altLang="en-US" sz="1400" dirty="0" err="1" smtClean="0"/>
                        <a:t>제품군</a:t>
                      </a:r>
                      <a:r>
                        <a:rPr lang="en-US" altLang="ko-KR" sz="1400" dirty="0"/>
                        <a:t>·</a:t>
                      </a:r>
                      <a:r>
                        <a:rPr lang="ko-KR" altLang="en-US" sz="1400" dirty="0" err="1"/>
                        <a:t>라인별</a:t>
                      </a:r>
                      <a:r>
                        <a:rPr lang="ko-KR" altLang="en-US" sz="1400" dirty="0"/>
                        <a:t> 개선 우선순위</a:t>
                      </a:r>
                    </a:p>
                  </a:txBody>
                  <a:tcPr marL="79276" marR="79276" marT="39638" marB="3963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0039877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068794"/>
              </p:ext>
            </p:extLst>
          </p:nvPr>
        </p:nvGraphicFramePr>
        <p:xfrm>
          <a:off x="753444" y="4180481"/>
          <a:ext cx="7634980" cy="2133600"/>
        </p:xfrm>
        <a:graphic>
          <a:graphicData uri="http://schemas.openxmlformats.org/drawingml/2006/table">
            <a:tbl>
              <a:tblPr/>
              <a:tblGrid>
                <a:gridCol w="1946348">
                  <a:extLst>
                    <a:ext uri="{9D8B030D-6E8A-4147-A177-3AD203B41FA5}">
                      <a16:colId xmlns:a16="http://schemas.microsoft.com/office/drawing/2014/main" val="570558358"/>
                    </a:ext>
                  </a:extLst>
                </a:gridCol>
                <a:gridCol w="5688632">
                  <a:extLst>
                    <a:ext uri="{9D8B030D-6E8A-4147-A177-3AD203B41FA5}">
                      <a16:colId xmlns:a16="http://schemas.microsoft.com/office/drawing/2014/main" val="30957122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변수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주요 변수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143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 err="1"/>
                        <a:t>생산구분</a:t>
                      </a:r>
                      <a:endParaRPr lang="ko-KR" altLang="en-US" sz="14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/>
                        <a:t>라인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제품군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주문 우선순위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근무조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1182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생산계획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/>
                        <a:t>계획수량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실제 생산수량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가용 작업자 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2728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 err="1"/>
                        <a:t>공정시간</a:t>
                      </a:r>
                      <a:endParaRPr lang="ko-KR" altLang="en-US" sz="14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400"/>
                        <a:t>A·B·C·D </a:t>
                      </a:r>
                      <a:r>
                        <a:rPr lang="ko-KR" altLang="en-US" sz="1400"/>
                        <a:t>공정 사이클타임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7532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대기</a:t>
                      </a:r>
                      <a:r>
                        <a:rPr lang="en-US" altLang="ko-KR" sz="1400" dirty="0"/>
                        <a:t>·</a:t>
                      </a:r>
                      <a:r>
                        <a:rPr lang="ko-KR" altLang="en-US" sz="1400" dirty="0" err="1"/>
                        <a:t>재공</a:t>
                      </a:r>
                      <a:endParaRPr lang="ko-KR" altLang="en-US" sz="14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/>
                        <a:t>공정 전 대기시간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시작</a:t>
                      </a:r>
                      <a:r>
                        <a:rPr lang="en-US" altLang="ko-KR" sz="1400"/>
                        <a:t>·</a:t>
                      </a:r>
                      <a:r>
                        <a:rPr lang="ko-KR" altLang="en-US" sz="1400"/>
                        <a:t>종료 재공품 수량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9864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 err="1"/>
                        <a:t>손실요인</a:t>
                      </a:r>
                      <a:endParaRPr lang="ko-KR" altLang="en-US" sz="14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/>
                        <a:t>품종교체시간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설비정지시간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자재대기시간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4992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 err="1"/>
                        <a:t>결과변수</a:t>
                      </a:r>
                      <a:endParaRPr lang="ko-KR" altLang="en-US" sz="14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dirty="0"/>
                        <a:t>실제 리드타임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 err="1"/>
                        <a:t>병목공정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 err="1"/>
                        <a:t>정시완료</a:t>
                      </a:r>
                      <a:r>
                        <a:rPr lang="ko-KR" altLang="en-US" sz="1400" dirty="0"/>
                        <a:t> 여부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일정지연시간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1953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5943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4</a:t>
            </a:r>
            <a:r>
              <a:rPr lang="ko-KR" altLang="en-US" dirty="0"/>
              <a:t>팀</a:t>
            </a:r>
            <a:r>
              <a:rPr lang="en-US" altLang="ko-KR" dirty="0"/>
              <a:t>: AGV </a:t>
            </a:r>
            <a:r>
              <a:rPr lang="ko-KR" altLang="en-US" dirty="0" err="1"/>
              <a:t>자재공급</a:t>
            </a:r>
            <a:r>
              <a:rPr lang="ko-KR" altLang="en-US" dirty="0"/>
              <a:t> 안정화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9630624"/>
              </p:ext>
            </p:extLst>
          </p:nvPr>
        </p:nvGraphicFramePr>
        <p:xfrm>
          <a:off x="642392" y="1124744"/>
          <a:ext cx="7859216" cy="3067274"/>
        </p:xfrm>
        <a:graphic>
          <a:graphicData uri="http://schemas.openxmlformats.org/drawingml/2006/table">
            <a:tbl>
              <a:tblPr/>
              <a:tblGrid>
                <a:gridCol w="1510381">
                  <a:extLst>
                    <a:ext uri="{9D8B030D-6E8A-4147-A177-3AD203B41FA5}">
                      <a16:colId xmlns:a16="http://schemas.microsoft.com/office/drawing/2014/main" val="2467636076"/>
                    </a:ext>
                  </a:extLst>
                </a:gridCol>
                <a:gridCol w="6348835">
                  <a:extLst>
                    <a:ext uri="{9D8B030D-6E8A-4147-A177-3AD203B41FA5}">
                      <a16:colId xmlns:a16="http://schemas.microsoft.com/office/drawing/2014/main" val="2994779343"/>
                    </a:ext>
                  </a:extLst>
                </a:gridCol>
              </a:tblGrid>
              <a:tr h="27843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구분</a:t>
                      </a:r>
                    </a:p>
                  </a:txBody>
                  <a:tcPr marL="83175" marR="83175" marT="41587" marB="415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설명</a:t>
                      </a:r>
                    </a:p>
                  </a:txBody>
                  <a:tcPr marL="83175" marR="83175" marT="41587" marB="415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676710"/>
                  </a:ext>
                </a:extLst>
              </a:tr>
              <a:tr h="67911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시나리오</a:t>
                      </a:r>
                    </a:p>
                  </a:txBody>
                  <a:tcPr marL="83175" marR="83175" marT="41587" marB="415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400" dirty="0"/>
                        <a:t>AGV</a:t>
                      </a:r>
                      <a:r>
                        <a:rPr lang="ko-KR" altLang="en-US" sz="1400" dirty="0"/>
                        <a:t>가 창고와 생산라인 사이에서 자재를 공급하고 있으나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혼잡</a:t>
                      </a:r>
                      <a:r>
                        <a:rPr lang="en-US" altLang="ko-KR" sz="1400" dirty="0"/>
                        <a:t>·</a:t>
                      </a:r>
                      <a:r>
                        <a:rPr lang="ko-KR" altLang="en-US" sz="1400" dirty="0" err="1"/>
                        <a:t>배차지연</a:t>
                      </a:r>
                      <a:r>
                        <a:rPr lang="en-US" altLang="ko-KR" sz="1400" dirty="0" smtClean="0"/>
                        <a:t>·</a:t>
                      </a:r>
                      <a:br>
                        <a:rPr lang="en-US" altLang="ko-KR" sz="1400" dirty="0" smtClean="0"/>
                      </a:br>
                      <a:r>
                        <a:rPr lang="ko-KR" altLang="en-US" sz="1400" dirty="0" smtClean="0"/>
                        <a:t>배터리 </a:t>
                      </a:r>
                      <a:r>
                        <a:rPr lang="ko-KR" altLang="en-US" sz="1400" dirty="0"/>
                        <a:t>부족</a:t>
                      </a:r>
                      <a:r>
                        <a:rPr lang="en-US" altLang="ko-KR" sz="1400" dirty="0"/>
                        <a:t>·</a:t>
                      </a:r>
                      <a:r>
                        <a:rPr lang="ko-KR" altLang="en-US" sz="1400" dirty="0"/>
                        <a:t>장애물 등으로 배송이 늦어져 생산라인이 정지할 수 있는 상황</a:t>
                      </a:r>
                    </a:p>
                  </a:txBody>
                  <a:tcPr marL="83175" marR="83175" marT="41587" marB="415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2712247"/>
                  </a:ext>
                </a:extLst>
              </a:tr>
              <a:tr h="47877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핵심 문제</a:t>
                      </a:r>
                    </a:p>
                  </a:txBody>
                  <a:tcPr marL="83175" marR="83175" marT="41587" marB="415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dirty="0" err="1"/>
                        <a:t>자재공급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SLA </a:t>
                      </a:r>
                      <a:r>
                        <a:rPr lang="ko-KR" altLang="en-US" sz="1400" dirty="0" err="1"/>
                        <a:t>미준수와</a:t>
                      </a:r>
                      <a:r>
                        <a:rPr lang="ko-KR" altLang="en-US" sz="1400" dirty="0"/>
                        <a:t> </a:t>
                      </a:r>
                      <a:r>
                        <a:rPr lang="ko-KR" altLang="en-US" sz="1400" dirty="0" err="1"/>
                        <a:t>라인정지</a:t>
                      </a:r>
                      <a:r>
                        <a:rPr lang="ko-KR" altLang="en-US" sz="1400" dirty="0"/>
                        <a:t> 위험을 사전에 파악하고</a:t>
                      </a:r>
                      <a:r>
                        <a:rPr lang="en-US" altLang="ko-KR" sz="1400" dirty="0"/>
                        <a:t>, AGV </a:t>
                      </a:r>
                      <a:r>
                        <a:rPr lang="ko-KR" altLang="en-US" sz="1400" dirty="0"/>
                        <a:t>배차</a:t>
                      </a:r>
                      <a:r>
                        <a:rPr lang="en-US" altLang="ko-KR" sz="1400" dirty="0"/>
                        <a:t>·</a:t>
                      </a:r>
                      <a:r>
                        <a:rPr lang="ko-KR" altLang="en-US" sz="1400" dirty="0"/>
                        <a:t>경로</a:t>
                      </a:r>
                      <a:r>
                        <a:rPr lang="en-US" altLang="ko-KR" sz="1400" dirty="0" smtClean="0"/>
                        <a:t>·</a:t>
                      </a:r>
                      <a:br>
                        <a:rPr lang="en-US" altLang="ko-KR" sz="1400" dirty="0" smtClean="0"/>
                      </a:br>
                      <a:r>
                        <a:rPr lang="ko-KR" altLang="en-US" sz="1400" dirty="0" smtClean="0"/>
                        <a:t>충전 </a:t>
                      </a:r>
                      <a:r>
                        <a:rPr lang="ko-KR" altLang="en-US" sz="1400" dirty="0"/>
                        <a:t>운영을 개선할 수 있는가</a:t>
                      </a:r>
                      <a:r>
                        <a:rPr lang="en-US" altLang="ko-KR" sz="1400" dirty="0"/>
                        <a:t>?</a:t>
                      </a:r>
                    </a:p>
                  </a:txBody>
                  <a:tcPr marL="83175" marR="83175" marT="41587" marB="415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7941324"/>
                  </a:ext>
                </a:extLst>
              </a:tr>
              <a:tr h="27934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데이터 현황</a:t>
                      </a:r>
                    </a:p>
                  </a:txBody>
                  <a:tcPr marL="83175" marR="83175" marT="41587" marB="415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400"/>
                        <a:t>1,600</a:t>
                      </a:r>
                      <a:r>
                        <a:rPr lang="ko-KR" altLang="en-US" sz="1400"/>
                        <a:t>건의 자재공급 요청</a:t>
                      </a:r>
                      <a:r>
                        <a:rPr lang="en-US" altLang="ko-KR" sz="1400"/>
                        <a:t>, AGV 6</a:t>
                      </a:r>
                      <a:r>
                        <a:rPr lang="ko-KR" altLang="en-US" sz="1400"/>
                        <a:t>대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경로 </a:t>
                      </a:r>
                      <a:r>
                        <a:rPr lang="en-US" altLang="ko-KR" sz="1400"/>
                        <a:t>5</a:t>
                      </a:r>
                      <a:r>
                        <a:rPr lang="ko-KR" altLang="en-US" sz="1400"/>
                        <a:t>개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목적 생산라인 </a:t>
                      </a:r>
                      <a:r>
                        <a:rPr lang="en-US" altLang="ko-KR" sz="1400"/>
                        <a:t>4</a:t>
                      </a:r>
                      <a:r>
                        <a:rPr lang="ko-KR" altLang="en-US" sz="1400"/>
                        <a:t>개</a:t>
                      </a:r>
                    </a:p>
                  </a:txBody>
                  <a:tcPr marL="83175" marR="83175" marT="41587" marB="415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4077328"/>
                  </a:ext>
                </a:extLst>
              </a:tr>
              <a:tr h="47877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주요 결과</a:t>
                      </a:r>
                    </a:p>
                  </a:txBody>
                  <a:tcPr marL="83175" marR="83175" marT="41587" marB="415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400"/>
                        <a:t>SLA </a:t>
                      </a:r>
                      <a:r>
                        <a:rPr lang="ko-KR" altLang="en-US" sz="1400"/>
                        <a:t>준수 </a:t>
                      </a:r>
                      <a:r>
                        <a:rPr lang="en-US" altLang="ko-KR" sz="1400"/>
                        <a:t>1,520</a:t>
                      </a:r>
                      <a:r>
                        <a:rPr lang="ko-KR" altLang="en-US" sz="1400"/>
                        <a:t>건</a:t>
                      </a:r>
                      <a:r>
                        <a:rPr lang="en-US" altLang="ko-KR" sz="1400"/>
                        <a:t>, SLA </a:t>
                      </a:r>
                      <a:r>
                        <a:rPr lang="ko-KR" altLang="en-US" sz="1400"/>
                        <a:t>미준수 </a:t>
                      </a:r>
                      <a:r>
                        <a:rPr lang="en-US" altLang="ko-KR" sz="1400"/>
                        <a:t>80</a:t>
                      </a:r>
                      <a:r>
                        <a:rPr lang="ko-KR" altLang="en-US" sz="1400"/>
                        <a:t>건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라인정지 </a:t>
                      </a:r>
                      <a:r>
                        <a:rPr lang="en-US" altLang="ko-KR" sz="1400"/>
                        <a:t>25</a:t>
                      </a:r>
                      <a:r>
                        <a:rPr lang="ko-KR" altLang="en-US" sz="1400"/>
                        <a:t>건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평균 배송시간 약 </a:t>
                      </a:r>
                      <a:r>
                        <a:rPr lang="en-US" altLang="ko-KR" sz="1400"/>
                        <a:t>7.65</a:t>
                      </a:r>
                      <a:r>
                        <a:rPr lang="ko-KR" altLang="en-US" sz="1400"/>
                        <a:t>분</a:t>
                      </a:r>
                    </a:p>
                  </a:txBody>
                  <a:tcPr marL="83175" marR="83175" marT="41587" marB="415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1132316"/>
                  </a:ext>
                </a:extLst>
              </a:tr>
              <a:tr h="27934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주요 </a:t>
                      </a:r>
                      <a:r>
                        <a:rPr lang="en-US" sz="1400" dirty="0"/>
                        <a:t>KPI</a:t>
                      </a:r>
                    </a:p>
                  </a:txBody>
                  <a:tcPr marL="83175" marR="83175" marT="41587" marB="415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400"/>
                        <a:t>SLA </a:t>
                      </a:r>
                      <a:r>
                        <a:rPr lang="ko-KR" altLang="en-US" sz="1400"/>
                        <a:t>준수율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평균 배송시간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배차대기시간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라인정지 건수</a:t>
                      </a:r>
                      <a:r>
                        <a:rPr lang="en-US" altLang="ko-KR" sz="1400"/>
                        <a:t>·</a:t>
                      </a:r>
                      <a:r>
                        <a:rPr lang="ko-KR" altLang="en-US" sz="1400"/>
                        <a:t>시간</a:t>
                      </a:r>
                    </a:p>
                  </a:txBody>
                  <a:tcPr marL="83175" marR="83175" marT="41587" marB="415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104424"/>
                  </a:ext>
                </a:extLst>
              </a:tr>
              <a:tr h="47877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주요 분석</a:t>
                      </a:r>
                    </a:p>
                  </a:txBody>
                  <a:tcPr marL="83175" marR="83175" marT="41587" marB="415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dirty="0"/>
                        <a:t>혼잡도</a:t>
                      </a:r>
                      <a:r>
                        <a:rPr lang="en-US" altLang="ko-KR" sz="1400" dirty="0"/>
                        <a:t>·</a:t>
                      </a:r>
                      <a:r>
                        <a:rPr lang="ko-KR" altLang="en-US" sz="1400" dirty="0" err="1"/>
                        <a:t>경로별</a:t>
                      </a:r>
                      <a:r>
                        <a:rPr lang="ko-KR" altLang="en-US" sz="1400" dirty="0"/>
                        <a:t> 지연</a:t>
                      </a:r>
                      <a:r>
                        <a:rPr lang="en-US" altLang="ko-KR" sz="1400" dirty="0"/>
                        <a:t>, AGV</a:t>
                      </a:r>
                      <a:r>
                        <a:rPr lang="ko-KR" altLang="en-US" sz="1400" dirty="0"/>
                        <a:t>별 </a:t>
                      </a:r>
                      <a:r>
                        <a:rPr lang="ko-KR" altLang="en-US" sz="1400" dirty="0" err="1"/>
                        <a:t>성능차이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배터리 부족과 배송지연 관계</a:t>
                      </a:r>
                      <a:r>
                        <a:rPr lang="en-US" altLang="ko-KR" sz="1400" dirty="0"/>
                        <a:t>, </a:t>
                      </a:r>
                      <a:r>
                        <a:rPr lang="en-US" altLang="ko-KR" sz="1400" dirty="0" smtClean="0"/>
                        <a:t/>
                      </a:r>
                      <a:br>
                        <a:rPr lang="en-US" altLang="ko-KR" sz="1400" dirty="0" smtClean="0"/>
                      </a:br>
                      <a:r>
                        <a:rPr lang="ko-KR" altLang="en-US" sz="1400" dirty="0" smtClean="0"/>
                        <a:t>긴급 요청의 </a:t>
                      </a:r>
                      <a:r>
                        <a:rPr lang="ko-KR" altLang="en-US" sz="1400" dirty="0"/>
                        <a:t>배차 우선순위</a:t>
                      </a:r>
                    </a:p>
                  </a:txBody>
                  <a:tcPr marL="83175" marR="83175" marT="41587" marB="4158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951956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996800"/>
              </p:ext>
            </p:extLst>
          </p:nvPr>
        </p:nvGraphicFramePr>
        <p:xfrm>
          <a:off x="642392" y="4365104"/>
          <a:ext cx="7859216" cy="2133600"/>
        </p:xfrm>
        <a:graphic>
          <a:graphicData uri="http://schemas.openxmlformats.org/drawingml/2006/table">
            <a:tbl>
              <a:tblPr/>
              <a:tblGrid>
                <a:gridCol w="2210428">
                  <a:extLst>
                    <a:ext uri="{9D8B030D-6E8A-4147-A177-3AD203B41FA5}">
                      <a16:colId xmlns:a16="http://schemas.microsoft.com/office/drawing/2014/main" val="1244227445"/>
                    </a:ext>
                  </a:extLst>
                </a:gridCol>
                <a:gridCol w="5648788">
                  <a:extLst>
                    <a:ext uri="{9D8B030D-6E8A-4147-A177-3AD203B41FA5}">
                      <a16:colId xmlns:a16="http://schemas.microsoft.com/office/drawing/2014/main" val="30947709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변수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주요 변수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5041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 err="1"/>
                        <a:t>공급요청</a:t>
                      </a:r>
                      <a:endParaRPr lang="ko-KR" altLang="en-US" sz="14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/>
                        <a:t>요청시간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출발구역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목적라인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자재유형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우선순위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579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AGV·</a:t>
                      </a:r>
                      <a:r>
                        <a:rPr lang="ko-KR" altLang="en-US" sz="1400" dirty="0"/>
                        <a:t>경로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400"/>
                        <a:t>AGV ID, </a:t>
                      </a:r>
                      <a:r>
                        <a:rPr lang="ko-KR" altLang="en-US" sz="1400"/>
                        <a:t>경로 </a:t>
                      </a:r>
                      <a:r>
                        <a:rPr lang="en-US" altLang="ko-KR" sz="1400"/>
                        <a:t>ID, </a:t>
                      </a:r>
                      <a:r>
                        <a:rPr lang="ko-KR" altLang="en-US" sz="1400"/>
                        <a:t>이동거리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혼잡도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8225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배터리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/>
                        <a:t>출발 배터리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도착 배터리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출발 전 충전 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912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 err="1"/>
                        <a:t>시간정보</a:t>
                      </a:r>
                      <a:endParaRPr lang="ko-KR" altLang="en-US" sz="14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/>
                        <a:t>적재시간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배차대기시간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이동시간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하역시간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1587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 err="1"/>
                        <a:t>방해요인</a:t>
                      </a:r>
                      <a:endParaRPr lang="ko-KR" altLang="en-US" sz="14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/>
                        <a:t>장애물 발생 수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우회 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4493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결과변수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dirty="0"/>
                        <a:t>실제 배송시간</a:t>
                      </a:r>
                      <a:r>
                        <a:rPr lang="en-US" altLang="ko-KR" sz="1400" dirty="0"/>
                        <a:t>, SLA </a:t>
                      </a:r>
                      <a:r>
                        <a:rPr lang="ko-KR" altLang="en-US" sz="1400" dirty="0"/>
                        <a:t>준수 여부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 err="1"/>
                        <a:t>라인정지</a:t>
                      </a:r>
                      <a:r>
                        <a:rPr lang="ko-KR" altLang="en-US" sz="1400" dirty="0"/>
                        <a:t> 여부</a:t>
                      </a:r>
                      <a:r>
                        <a:rPr lang="en-US" altLang="ko-KR" sz="1400" dirty="0"/>
                        <a:t>·</a:t>
                      </a:r>
                      <a:r>
                        <a:rPr lang="ko-KR" altLang="en-US" sz="1400" dirty="0"/>
                        <a:t>시간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470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8498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1681</TotalTime>
  <Words>1366</Words>
  <Application>Microsoft Office PowerPoint</Application>
  <PresentationFormat>화면 슬라이드 쇼(4:3)</PresentationFormat>
  <Paragraphs>268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Arial</vt:lpstr>
      <vt:lpstr>Times New Roman</vt:lpstr>
      <vt:lpstr>Office 테마</vt:lpstr>
      <vt:lpstr>K-뉴딜 아카데미 데이터 설명</vt:lpstr>
      <vt:lpstr>미니 프로젝트 데이터</vt:lpstr>
      <vt:lpstr>데이터 성격</vt:lpstr>
      <vt:lpstr>데이터 시나리오</vt:lpstr>
      <vt:lpstr>핵심 문제</vt:lpstr>
      <vt:lpstr>데이터 주요 현황</vt:lpstr>
      <vt:lpstr>주요 변수</vt:lpstr>
      <vt:lpstr>본 강의 활용 데이터 셋(4개)</vt:lpstr>
      <vt:lpstr>데이터 성격</vt:lpstr>
      <vt:lpstr>1팀: 공기압축기 예지보전</vt:lpstr>
      <vt:lpstr>2팀: 공장 에너지 피크관리</vt:lpstr>
      <vt:lpstr>3팀: 생산흐름 병목개선</vt:lpstr>
      <vt:lpstr>4팀: AGV 자재공급 안정화</vt:lpstr>
    </vt:vector>
  </TitlesOfParts>
  <Company>Hansung Univ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Admin</dc:creator>
  <cp:lastModifiedBy>User</cp:lastModifiedBy>
  <cp:revision>57</cp:revision>
  <dcterms:created xsi:type="dcterms:W3CDTF">2010-10-04T07:05:52Z</dcterms:created>
  <dcterms:modified xsi:type="dcterms:W3CDTF">2026-10-02T04:26:03Z</dcterms:modified>
</cp:coreProperties>
</file>